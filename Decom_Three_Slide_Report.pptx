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79" r:id="rId1"/>
  </p:sldMasterIdLst>
  <p:notesMasterIdLst>
    <p:notesMasterId r:id="rId15"/>
  </p:notesMasterIdLst>
  <p:handoutMasterIdLst>
    <p:handoutMasterId r:id="rId16"/>
  </p:handoutMasterIdLst>
  <p:sldIdLst>
    <p:sldId id="2561" r:id="rId2"/>
    <p:sldId id="2562" r:id="rId3"/>
    <p:sldId id="2563" r:id="rId4"/>
    <p:sldId id="2564" r:id="rId5"/>
    <p:sldId id="2572" r:id="rId6"/>
    <p:sldId id="2571" r:id="rId7"/>
    <p:sldId id="2573" r:id="rId8"/>
    <p:sldId id="2565" r:id="rId9"/>
    <p:sldId id="2566" r:id="rId10"/>
    <p:sldId id="2567" r:id="rId11"/>
    <p:sldId id="2568" r:id="rId12"/>
    <p:sldId id="2569" r:id="rId13"/>
    <p:sldId id="25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lication Decommissioning Summary – Three-Slide Report" id="{7578AB1B-9C54-4AF5-A6EE-D8DFDBDA8A59}">
          <p14:sldIdLst>
            <p14:sldId id="2561"/>
          </p14:sldIdLst>
        </p14:section>
        <p14:section name="Overall Application Readiness Summary" id="{D816D5A7-8D73-43FB-BD58-29DC7675CE5F}">
          <p14:sldIdLst>
            <p14:sldId id="2562"/>
            <p14:sldId id="2563"/>
            <p14:sldId id="2564"/>
            <p14:sldId id="2572"/>
            <p14:sldId id="2571"/>
            <p14:sldId id="2573"/>
          </p14:sldIdLst>
        </p14:section>
        <p14:section name="Readiness Categories with Visual Indicator" id="{E7B8AEF5-AB34-4C6E-A586-24E1012715C3}">
          <p14:sldIdLst>
            <p14:sldId id="2565"/>
            <p14:sldId id="2566"/>
            <p14:sldId id="2567"/>
          </p14:sldIdLst>
        </p14:section>
        <p14:section name="Input Completeness Heatmap Summary" id="{FE2BF32B-B22D-41B2-ACCB-CEA4B44E02D9}">
          <p14:sldIdLst>
            <p14:sldId id="2568"/>
            <p14:sldId id="2569"/>
            <p14:sldId id="25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2868F3-DED4-426D-AE2C-44C00F130DCE}" v="8" dt="2026-02-17T15:39:55.191"/>
  </p1510:revLst>
</p1510:revInfo>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45"/>
    <p:restoredTop sz="94668"/>
  </p:normalViewPr>
  <p:slideViewPr>
    <p:cSldViewPr snapToGrid="0" showGuides="1">
      <p:cViewPr varScale="1">
        <p:scale>
          <a:sx n="59" d="100"/>
          <a:sy n="59" d="100"/>
        </p:scale>
        <p:origin x="556" y="52"/>
      </p:cViewPr>
      <p:guideLst>
        <p:guide orient="horz" pos="2160"/>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2/17/2026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46540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High-level readiness analysis across applications, Readiness distribution interpretation</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443952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 consolidated view of the overall application readiness derived from the complete dataset of seventy-four applications analyzed for decommissioning assessment. The purpose of this content is to offer executives and decision-makers a quick understanding of where the portfolio stands in terms of readiness completeness, coverage of required parameters, and identification of areas needing immediate action. The total number of applications assessed, seventy-four, reflects a broad technology landscape with varying levels of operational complexity and dependency across systems. A significant insight is that the average readiness across all these applications stands at 83.84 percent, indicating relatively strong alignment between the information received from client stakeholders and the essential data required for decommissioning feasibility evaluation. This average, however, also reflects the presence of both well‑documented and poorly‑documented applications within the ecosystem. 
A closer breakdown of readiness percentages shows that fifty-one applications fall into the high‑readiness category, which includes systems with ninety percent or higher readiness. These applications generally have complete or near‑complete Must‑Have inputs and minimal gaps in Good‑to‑Have attributes, positioning them well for subsequent phases such as dependency verification, compliance review, and archival requirements assessment. Nine applications fall into the moderate or medium‑readiness group (sixty to seventy‑nine percent), indicating that while foundational parameters have been captured, additional details are needed to finalize the assessment. These systems typically exhibit minor gaps in technical or operational metadata. Lastly, thirteen applications fall below sixty percent readiness, representing the highest‑risk group that will require structured stakeholder workshops, targeted deep dives, and focused follow‑ups before decommissioning strategies can be meaningfully developed. These applications often miss critical Must‑Have information such as data retention policies, interface mappings, archival dependencies, or business owner validations. Collectively, this slide helps teams prioritize their engagement approach while ensuring maximum efficiency in the overall decommissioning roadmap.</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4065579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152872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101D6-E39F-A8B0-01E2-0305727B9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DA774-E892-2201-DE31-964FAC054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BB1CE-2E10-6A2A-78CF-90863BB5A719}"/>
              </a:ext>
            </a:extLst>
          </p:cNvPr>
          <p:cNvSpPr>
            <a:spLocks noGrp="1"/>
          </p:cNvSpPr>
          <p:nvPr>
            <p:ph type="body" idx="1"/>
          </p:nvPr>
        </p:nvSpPr>
        <p:spPr/>
        <p:txBody>
          <a:bodyPr/>
          <a:lstStyle/>
          <a:p>
            <a:r>
              <a:rPr lang="en-US"/>
              <a:t>Evaluation of Must‑Have and Good‑to‑Have completeness, Heatmap completeness table</a:t>
            </a:r>
          </a:p>
        </p:txBody>
      </p:sp>
      <p:sp>
        <p:nvSpPr>
          <p:cNvPr id="4" name="Slide Number Placeholder 3">
            <a:extLst>
              <a:ext uri="{FF2B5EF4-FFF2-40B4-BE49-F238E27FC236}">
                <a16:creationId xmlns:a16="http://schemas.microsoft.com/office/drawing/2014/main" id="{639CE4B5-85A8-88D0-0729-2FAA66B7BF4F}"/>
              </a:ext>
            </a:extLst>
          </p:cNvPr>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267778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33C25-A15E-3590-1867-1A1850257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75BEB-E21D-1898-2098-F7C94C72A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184B4-832E-D667-612B-D6174C83A2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496327-A3A6-C48A-8B65-DDD166F1934D}"/>
              </a:ext>
            </a:extLst>
          </p:cNvPr>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769716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27A8C-4196-1BDA-B947-4FF3580D3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2DD0C-3AC3-E2DD-2E5B-8A0FDDF44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5AFC0F-CC58-4499-3A65-440EBEDA65A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53A56A-7F65-3890-4A43-DAFFB8ED8990}"/>
              </a:ext>
            </a:extLst>
          </p:cNvPr>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731876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Categorization using readiness thresholds, Readiness category summary table</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932286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utilizes the traffic‑light‑style readiness category visual (as provided by the user) to enhance interpretability of application readiness across the portfolio. Based on the thresholds communicated—green for ninety percent and above, amber for seventy to ninety percent, and red for below seventy percent—the dataset reveals a clear concentration of applications in the green zone. Specifically, fifty‑one applications qualify as high‑readiness systems and are strong candidates for advancing into decommissioning decision cycles. The green categorization typically reflects well‑documented systems where both Must‑Have and Good‑to‑Have data points are either fully completed or exhibit only minor, non‑blocking gaps. 
The amber range, covering seventy to ninety percent readiness, includes approximately eighteen applications when taking into account that nine fall within the sixty to seventy‑nine percent bucket and the remaining nine between eighty and eighty‑nine percent. This group represents systems where the foundational structure of required documentation is present but supplementary information must still be acquired to reach a state of readiness suitable for validation. Amber‑category applications often include heritage systems, moderately complex integrations, or tools with shared dependencies that require further elaboration from business or technology owners. 
Thirteen applications fall into the red category, defined as systems below seventy percent readiness. These applications pose the greatest risk to program timelines and require immediate attention. Systems in this tier frequently exhibit missing Must‑Have parameters such as compliance mandates, archival rules, functional criticality, interface maps, or end‑state business validation. Red‑category applications may also include legacy or poorly documented environments where information gaps stem from system age, personnel turnover, or lack of authoritative documentation repositories. Prioritizing deep‑dive workshops for these applications is essential to eliminate bottlenecks in the decommissioning lifecycle. By leveraging the readiness categorization alongside the provided image visual, decision‑makers can easily segment applications, ensuring that efforts and resources align with priority areas.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740959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2260107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Evaluation of Must‑Have and Good‑to‑Have completeness, Heatmap completeness table</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170398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 deeper analysis of the completeness of Must‑Have and Good‑to‑Have parameters across all applications in the assessment scope. Unlike percentage‑based readiness scoring, which gives a high‑level view, this input‑completeness heatmap reveals structural documentation gaps that directly affect decommissioning feasibility and sequencing. Only three applications have achieved full completion across both Must‑Have and Good‑to‑Have inputs, indicating that these systems possess clear data coverage and can advance through the decommissioning workflow without dependency on additional stakeholder input. These applications typically include strongly governed platforms or recently modernized systems that follow standardized documentation practices. 
Fourteen applications have completed all Must‑Have inputs but retain gaps in Good‑to‑Have fields. This group remains close to full readiness, as Must‑Have inputs form the core evaluation criteria. Good‑to‑Have gaps often relate to optional metadata such as secondary integrations, environment‑level nuances, or ancillary business owner considerations. Nine applications complete all Good‑to‑Have fields yet lack certain Must‑Have items—these represent structurally risky systems because gaps in Must‑Have parameters directly impact compliance, archival, technical dependency analysis, or risk scoring models. The presence of missing Must‑Have items requires immediate escalation to relevant stakeholders. 
Finally, forty‑eight applications fall into the least‑complete quadrant, lacking significant portions of both Must‑Have and Good‑to‑Have inputs. This distribution indicates a substantial dependency on business and technical SMEs for clarification and represents the largest barrier to program acceleration. These applications may involve outdated documentation, complex integration landscapes, or distributed ownership across multiple teams. Addressing this group through targeted working sessions, structured questionnaire reviews, or documentation mining exercises will be essential to elevate overall readiness. Presenting this breakdown to leadership helps set expectations on required resource bandwidth and timeline impact.</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494886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5444996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2/17/2026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2/17/2026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2/17/2026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2/17/2026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2/17/2026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dirty="0"/>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2/17/2026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dirty="0"/>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675815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dirty="0"/>
              <a:t>Click to edit Master title style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2/17/2026</a:t>
            </a:fld>
            <a:endParaRPr lang="en-US" dirty="0"/>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dirty="0"/>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966082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dirty="0"/>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2/17/2026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dirty="0"/>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73707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dirty="0"/>
              <a:t>Click to edit Master title style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2/17/2026</a:t>
            </a:fld>
            <a:endParaRPr lang="en-US" dirty="0"/>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dirty="0"/>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4069786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2/17/2026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dirty="0"/>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3960601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2/17/2026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dirty="0"/>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553626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dirty="0"/>
              <a:t>Click to edit Master title style</a:t>
            </a:r>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2/17/2026</a:t>
            </a:fld>
            <a:endParaRPr lang="en-US" dirty="0"/>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9279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dirty="0"/>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2/17/2026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977688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dirty="0"/>
              <a:t>Click to edit Master title style</a:t>
            </a:r>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2/17/2026</a:t>
            </a:fld>
            <a:endParaRPr lang="en-US" dirty="0"/>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dirty="0"/>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2/17/2026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dirty="0"/>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07886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2/17/2026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dirty="0"/>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76139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dirty="0"/>
              <a:t>Click to edit Master title style</a:t>
            </a:r>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2/17/2026</a:t>
            </a:fld>
            <a:endParaRPr lang="en-US" dirty="0"/>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dirty="0"/>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0799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2/17/2026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dirty="0"/>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2/17/2026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2/17/2026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2/17/2026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2/17/2026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2/17/2026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2/17/2026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2/17/2026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2/17/2026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2/17/2026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2/17/2026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2/17/2026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2/17/2026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2/17/2026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2/17/2026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2/17/2026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Ls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4D281-8267-4F5F-A126-0A7277056C43}"/>
              </a:ext>
            </a:extLst>
          </p:cNvPr>
          <p:cNvSpPr>
            <a:spLocks noGrp="1"/>
          </p:cNvSpPr>
          <p:nvPr>
            <p:ph type="ctrTitle"/>
          </p:nvPr>
        </p:nvSpPr>
        <p:spPr>
          <a:xfrm>
            <a:off x="457200" y="457200"/>
            <a:ext cx="3886198" cy="4513974"/>
          </a:xfrm>
        </p:spPr>
        <p:txBody>
          <a:bodyPr anchor="t">
            <a:normAutofit/>
          </a:bodyPr>
          <a:lstStyle/>
          <a:p>
            <a:r>
              <a:rPr lang="en-US" sz="3700" dirty="0"/>
              <a:t>Application Decommissioning Summary Report</a:t>
            </a:r>
          </a:p>
        </p:txBody>
      </p:sp>
      <p:pic>
        <p:nvPicPr>
          <p:cNvPr id="4098" name="Picture 2" descr="Beyond the Cost Savings of Application Decommissioning | Solix Blog">
            <a:extLst>
              <a:ext uri="{FF2B5EF4-FFF2-40B4-BE49-F238E27FC236}">
                <a16:creationId xmlns:a16="http://schemas.microsoft.com/office/drawing/2014/main" id="{50CEEE46-D59A-A43E-5762-FBACF3B055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774" r="13288"/>
          <a:stretch>
            <a:fillRect/>
          </a:stretch>
        </p:blipFill>
        <p:spPr bwMode="auto">
          <a:xfrm>
            <a:off x="4794950" y="457200"/>
            <a:ext cx="7388352" cy="594360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663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45E01-EAF0-1E57-2042-DBA7DFDCC614}"/>
              </a:ext>
            </a:extLst>
          </p:cNvPr>
          <p:cNvSpPr>
            <a:spLocks noGrp="1"/>
          </p:cNvSpPr>
          <p:nvPr>
            <p:ph type="ctrTitle"/>
          </p:nvPr>
        </p:nvSpPr>
        <p:spPr>
          <a:xfrm>
            <a:off x="457199" y="457200"/>
            <a:ext cx="9982201" cy="6172200"/>
          </a:xfrm>
        </p:spPr>
        <p:txBody>
          <a:bodyPr anchor="b">
            <a:normAutofit/>
          </a:bodyPr>
          <a:lstStyle/>
          <a:p>
            <a:r>
              <a:rPr lang="en-US"/>
              <a:t>Overall Application Readiness Summary</a:t>
            </a:r>
          </a:p>
        </p:txBody>
      </p:sp>
    </p:spTree>
    <p:extLst>
      <p:ext uri="{BB962C8B-B14F-4D97-AF65-F5344CB8AC3E}">
        <p14:creationId xmlns:p14="http://schemas.microsoft.com/office/powerpoint/2010/main" val="10030615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451D9-B2CD-D813-2057-696FBE0B283B}"/>
              </a:ext>
            </a:extLst>
          </p:cNvPr>
          <p:cNvSpPr>
            <a:spLocks noGrp="1"/>
          </p:cNvSpPr>
          <p:nvPr>
            <p:ph type="title"/>
          </p:nvPr>
        </p:nvSpPr>
        <p:spPr>
          <a:xfrm>
            <a:off x="457201" y="457199"/>
            <a:ext cx="7254239" cy="1173712"/>
          </a:xfrm>
        </p:spPr>
        <p:txBody>
          <a:bodyPr anchor="b">
            <a:normAutofit/>
          </a:bodyPr>
          <a:lstStyle/>
          <a:p>
            <a:r>
              <a:rPr lang="en-US"/>
              <a:t>High-level readiness analysis across applications</a:t>
            </a:r>
          </a:p>
        </p:txBody>
      </p:sp>
      <p:sp>
        <p:nvSpPr>
          <p:cNvPr id="4" name="Content Placeholder 3">
            <a:extLst>
              <a:ext uri="{FF2B5EF4-FFF2-40B4-BE49-F238E27FC236}">
                <a16:creationId xmlns:a16="http://schemas.microsoft.com/office/drawing/2014/main" id="{541B48A2-CAC1-6D20-AAA0-6F4AFCCDC613}"/>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1" y="2088108"/>
            <a:ext cx="7254240" cy="4312692"/>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200" b="1" dirty="0"/>
              <a:t>Overview of Application Readiness</a:t>
            </a:r>
          </a:p>
          <a:p>
            <a:pPr marL="0" lvl="1" indent="0">
              <a:lnSpc>
                <a:spcPct val="110000"/>
              </a:lnSpc>
              <a:spcAft>
                <a:spcPts val="600"/>
              </a:spcAft>
              <a:buFont typeface="Arial" panose="020B0604020202020204" pitchFamily="34" charset="0"/>
              <a:buNone/>
            </a:pPr>
            <a:r>
              <a:rPr lang="en-US" sz="1200" dirty="0"/>
              <a:t>Seventy-four applications assessed show an average readiness of 83.84%, indicating strong data alignment for decommissioning.</a:t>
            </a:r>
          </a:p>
          <a:p>
            <a:pPr marL="0" indent="0">
              <a:lnSpc>
                <a:spcPct val="110000"/>
              </a:lnSpc>
              <a:spcBef>
                <a:spcPts val="2500"/>
              </a:spcBef>
              <a:spcAft>
                <a:spcPts val="600"/>
              </a:spcAft>
              <a:buFont typeface="Arial" panose="020B0604020202020204" pitchFamily="34" charset="0"/>
              <a:buNone/>
            </a:pPr>
            <a:r>
              <a:rPr lang="en-US" sz="1200" b="1" dirty="0"/>
              <a:t>High-Readiness Applications</a:t>
            </a:r>
          </a:p>
          <a:p>
            <a:pPr marL="0" lvl="1" indent="0">
              <a:lnSpc>
                <a:spcPct val="110000"/>
              </a:lnSpc>
              <a:spcAft>
                <a:spcPts val="600"/>
              </a:spcAft>
              <a:buFont typeface="Arial" panose="020B0604020202020204" pitchFamily="34" charset="0"/>
              <a:buNone/>
            </a:pPr>
            <a:r>
              <a:rPr lang="en-US" sz="1200" dirty="0"/>
              <a:t>Fifty-one applications with 90% or higher readiness have near-complete must-have inputs and minimal gaps.</a:t>
            </a:r>
          </a:p>
          <a:p>
            <a:pPr marL="0" indent="0">
              <a:lnSpc>
                <a:spcPct val="110000"/>
              </a:lnSpc>
              <a:spcBef>
                <a:spcPts val="2500"/>
              </a:spcBef>
              <a:spcAft>
                <a:spcPts val="600"/>
              </a:spcAft>
              <a:buFont typeface="Arial" panose="020B0604020202020204" pitchFamily="34" charset="0"/>
              <a:buNone/>
            </a:pPr>
            <a:r>
              <a:rPr lang="en-US" sz="1200" b="1" dirty="0"/>
              <a:t>Medium-Readiness Applications</a:t>
            </a:r>
          </a:p>
          <a:p>
            <a:pPr marL="0" lvl="1" indent="0">
              <a:lnSpc>
                <a:spcPct val="110000"/>
              </a:lnSpc>
              <a:spcAft>
                <a:spcPts val="600"/>
              </a:spcAft>
              <a:buFont typeface="Arial" panose="020B0604020202020204" pitchFamily="34" charset="0"/>
              <a:buNone/>
            </a:pPr>
            <a:r>
              <a:rPr lang="en-US" sz="1200" dirty="0"/>
              <a:t>Nine applications fall into 60-89% readiness, needing additional details to complete technical and operational metadata.</a:t>
            </a:r>
          </a:p>
          <a:p>
            <a:pPr marL="0" indent="0">
              <a:lnSpc>
                <a:spcPct val="110000"/>
              </a:lnSpc>
              <a:spcBef>
                <a:spcPts val="2500"/>
              </a:spcBef>
              <a:spcAft>
                <a:spcPts val="600"/>
              </a:spcAft>
              <a:buFont typeface="Arial" panose="020B0604020202020204" pitchFamily="34" charset="0"/>
              <a:buNone/>
            </a:pPr>
            <a:r>
              <a:rPr lang="en-US" sz="1200" b="1" dirty="0"/>
              <a:t>Low-Readiness Applications</a:t>
            </a:r>
          </a:p>
          <a:p>
            <a:pPr marL="0" lvl="1" indent="0">
              <a:lnSpc>
                <a:spcPct val="110000"/>
              </a:lnSpc>
              <a:spcAft>
                <a:spcPts val="600"/>
              </a:spcAft>
              <a:buFont typeface="Arial" panose="020B0604020202020204" pitchFamily="34" charset="0"/>
              <a:buNone/>
            </a:pPr>
            <a:r>
              <a:rPr lang="en-US" sz="1200" dirty="0"/>
              <a:t>Thirteen applications under 60% readiness require targeted workshops and follow-ups for critical data gaps.</a:t>
            </a:r>
          </a:p>
        </p:txBody>
      </p:sp>
      <p:pic>
        <p:nvPicPr>
          <p:cNvPr id="5" name="Content Placeholder 4" descr="Business Finance, accounting, contract, advisor investment consulting marketing plan for the company with using tablet and computer technology in analysis.">
            <a:extLst>
              <a:ext uri="{FF2B5EF4-FFF2-40B4-BE49-F238E27FC236}">
                <a16:creationId xmlns:a16="http://schemas.microsoft.com/office/drawing/2014/main" id="{BC5E3A29-1FB5-4AB7-BC68-29451B4DFB8F}"/>
              </a:ext>
            </a:extLst>
          </p:cNvPr>
          <p:cNvPicPr>
            <a:picLocks noGrp="1" noChangeAspect="1"/>
          </p:cNvPicPr>
          <p:nvPr>
            <p:ph type="pic" sz="quarter" idx="13"/>
          </p:nvPr>
        </p:nvPicPr>
        <p:blipFill>
          <a:blip r:embed="rId3"/>
          <a:srcRect l="36369" r="18447" b="1"/>
          <a:stretch>
            <a:fillRect/>
          </a:stretch>
        </p:blipFill>
        <p:spPr>
          <a:xfrm>
            <a:off x="8168640" y="457199"/>
            <a:ext cx="4023360" cy="5943601"/>
          </a:xfrm>
        </p:spPr>
      </p:pic>
    </p:spTree>
    <p:extLst>
      <p:ext uri="{BB962C8B-B14F-4D97-AF65-F5344CB8AC3E}">
        <p14:creationId xmlns:p14="http://schemas.microsoft.com/office/powerpoint/2010/main" val="27430392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38F5C-1CE3-2837-1891-C80EFBEFBE43}"/>
              </a:ext>
            </a:extLst>
          </p:cNvPr>
          <p:cNvSpPr>
            <a:spLocks noGrp="1"/>
          </p:cNvSpPr>
          <p:nvPr>
            <p:ph type="title"/>
          </p:nvPr>
        </p:nvSpPr>
        <p:spPr>
          <a:xfrm>
            <a:off x="457200" y="490128"/>
            <a:ext cx="11277599" cy="914400"/>
          </a:xfrm>
        </p:spPr>
        <p:txBody>
          <a:bodyPr anchor="t">
            <a:normAutofit/>
          </a:bodyPr>
          <a:lstStyle/>
          <a:p>
            <a:r>
              <a:rPr lang="en-US"/>
              <a:t>Readiness distribution interpretation</a:t>
            </a:r>
          </a:p>
        </p:txBody>
      </p:sp>
      <p:graphicFrame>
        <p:nvGraphicFramePr>
          <p:cNvPr id="5" name="Content Placeholder 4">
            <a:extLst>
              <a:ext uri="{FF2B5EF4-FFF2-40B4-BE49-F238E27FC236}">
                <a16:creationId xmlns:a16="http://schemas.microsoft.com/office/drawing/2014/main" id="{BB5E6B52-6076-4996-871D-89219A5A41E0}"/>
              </a:ext>
            </a:extLst>
          </p:cNvPr>
          <p:cNvGraphicFramePr>
            <a:graphicFrameLocks noGrp="1"/>
          </p:cNvGraphicFramePr>
          <p:nvPr>
            <p:ph idx="1"/>
            <p:extLst>
              <p:ext uri="{D42A27DB-BD31-4B8C-83A1-F6EECF244321}">
                <p14:modId xmlns:p14="http://schemas.microsoft.com/office/powerpoint/2010/main" val="1863291224"/>
              </p:ext>
            </p:extLst>
          </p:nvPr>
        </p:nvGraphicFramePr>
        <p:xfrm>
          <a:off x="457200" y="2132083"/>
          <a:ext cx="11277600" cy="3998362"/>
        </p:xfrm>
        <a:graphic>
          <a:graphicData uri="http://schemas.openxmlformats.org/drawingml/2006/table">
            <a:tbl>
              <a:tblPr firstRow="1" bandRow="1">
                <a:noFill/>
                <a:tableStyleId>{5C22544A-7EE6-4342-B048-85BDC9FD1C3A}</a:tableStyleId>
              </a:tblPr>
              <a:tblGrid>
                <a:gridCol w="4102186">
                  <a:extLst>
                    <a:ext uri="{9D8B030D-6E8A-4147-A177-3AD203B41FA5}">
                      <a16:colId xmlns:a16="http://schemas.microsoft.com/office/drawing/2014/main" val="3890433892"/>
                    </a:ext>
                  </a:extLst>
                </a:gridCol>
                <a:gridCol w="3466251">
                  <a:extLst>
                    <a:ext uri="{9D8B030D-6E8A-4147-A177-3AD203B41FA5}">
                      <a16:colId xmlns:a16="http://schemas.microsoft.com/office/drawing/2014/main" val="3325374958"/>
                    </a:ext>
                  </a:extLst>
                </a:gridCol>
                <a:gridCol w="3709163">
                  <a:extLst>
                    <a:ext uri="{9D8B030D-6E8A-4147-A177-3AD203B41FA5}">
                      <a16:colId xmlns:a16="http://schemas.microsoft.com/office/drawing/2014/main" val="3940033425"/>
                    </a:ext>
                  </a:extLst>
                </a:gridCol>
              </a:tblGrid>
              <a:tr h="1372963">
                <a:tc>
                  <a:txBody>
                    <a:bodyPr/>
                    <a:lstStyle/>
                    <a:p>
                      <a:pPr>
                        <a:buNone/>
                      </a:pPr>
                      <a:r>
                        <a:rPr lang="en-US" sz="2800" b="1" cap="all" spc="150" dirty="0">
                          <a:solidFill>
                            <a:schemeClr val="tx1"/>
                          </a:solidFill>
                        </a:rPr>
                        <a:t>Readiness Tier</a:t>
                      </a:r>
                    </a:p>
                  </a:txBody>
                  <a:tcPr marL="235814" marR="235814" marT="235814" marB="235814"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800" b="1" cap="all" spc="150" dirty="0">
                          <a:solidFill>
                            <a:schemeClr val="tx1"/>
                          </a:solidFill>
                        </a:rPr>
                        <a:t>Percentage Range</a:t>
                      </a:r>
                    </a:p>
                  </a:txBody>
                  <a:tcPr marL="235814" marR="235814" marT="235814" marB="235814"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800" b="1" cap="all" spc="150">
                          <a:solidFill>
                            <a:schemeClr val="tx1"/>
                          </a:solidFill>
                        </a:rPr>
                        <a:t>Number of Applications</a:t>
                      </a:r>
                    </a:p>
                  </a:txBody>
                  <a:tcPr marL="235814" marR="235814" marT="235814" marB="235814"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759849278"/>
                  </a:ext>
                </a:extLst>
              </a:tr>
              <a:tr h="875133">
                <a:tc>
                  <a:txBody>
                    <a:bodyPr/>
                    <a:lstStyle/>
                    <a:p>
                      <a:pPr>
                        <a:buNone/>
                      </a:pPr>
                      <a:r>
                        <a:rPr lang="en-US" sz="2200" b="1" cap="none" spc="0">
                          <a:solidFill>
                            <a:schemeClr val="tx1"/>
                          </a:solidFill>
                        </a:rPr>
                        <a:t>High Readiness</a:t>
                      </a:r>
                    </a:p>
                  </a:txBody>
                  <a:tcPr marL="235814" marR="235814" marT="235814" marB="2358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a:solidFill>
                            <a:schemeClr val="tx1"/>
                          </a:solidFill>
                        </a:rPr>
                        <a:t>≥ 90%</a:t>
                      </a:r>
                    </a:p>
                  </a:txBody>
                  <a:tcPr marL="235814" marR="235814" marT="235814" marB="2358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dirty="0">
                          <a:solidFill>
                            <a:schemeClr val="tx1"/>
                          </a:solidFill>
                        </a:rPr>
                        <a:t>51 </a:t>
                      </a:r>
                      <a:r>
                        <a:rPr lang="en-IN" sz="2400" kern="1200" dirty="0">
                          <a:solidFill>
                            <a:schemeClr val="dk1"/>
                          </a:solidFill>
                          <a:effectLst/>
                          <a:latin typeface="+mn-lt"/>
                          <a:ea typeface="+mn-ea"/>
                          <a:cs typeface="+mn-cs"/>
                        </a:rPr>
                        <a:t>🟢</a:t>
                      </a:r>
                      <a:endParaRPr lang="en-US" sz="2200" cap="none" spc="0" dirty="0">
                        <a:solidFill>
                          <a:schemeClr val="tx1"/>
                        </a:solidFill>
                      </a:endParaRPr>
                    </a:p>
                  </a:txBody>
                  <a:tcPr marL="235814" marR="235814" marT="235814" marB="2358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758881091"/>
                  </a:ext>
                </a:extLst>
              </a:tr>
              <a:tr h="875133">
                <a:tc>
                  <a:txBody>
                    <a:bodyPr/>
                    <a:lstStyle/>
                    <a:p>
                      <a:pPr>
                        <a:buNone/>
                      </a:pPr>
                      <a:r>
                        <a:rPr lang="en-US" sz="2200" b="1" cap="none" spc="0">
                          <a:solidFill>
                            <a:schemeClr val="tx1"/>
                          </a:solidFill>
                        </a:rPr>
                        <a:t>Medium Readiness</a:t>
                      </a:r>
                    </a:p>
                  </a:txBody>
                  <a:tcPr marL="235814" marR="235814" marT="235814" marB="2358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dirty="0">
                          <a:solidFill>
                            <a:schemeClr val="tx1"/>
                          </a:solidFill>
                        </a:rPr>
                        <a:t>60–89%</a:t>
                      </a:r>
                    </a:p>
                  </a:txBody>
                  <a:tcPr marL="235814" marR="235814" marT="235814" marB="2358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dirty="0">
                          <a:solidFill>
                            <a:schemeClr val="tx1"/>
                          </a:solidFill>
                        </a:rPr>
                        <a:t>9    </a:t>
                      </a:r>
                      <a:r>
                        <a:rPr lang="en-IN" sz="2400" kern="1200" dirty="0">
                          <a:solidFill>
                            <a:schemeClr val="dk1"/>
                          </a:solidFill>
                          <a:effectLst/>
                          <a:latin typeface="+mn-lt"/>
                          <a:ea typeface="+mn-ea"/>
                          <a:cs typeface="+mn-cs"/>
                        </a:rPr>
                        <a:t>🟡</a:t>
                      </a:r>
                      <a:endParaRPr lang="en-US" sz="2200" cap="none" spc="0" dirty="0">
                        <a:solidFill>
                          <a:schemeClr val="tx1"/>
                        </a:solidFill>
                      </a:endParaRPr>
                    </a:p>
                  </a:txBody>
                  <a:tcPr marL="235814" marR="235814" marT="235814" marB="23581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136311384"/>
                  </a:ext>
                </a:extLst>
              </a:tr>
              <a:tr h="875133">
                <a:tc>
                  <a:txBody>
                    <a:bodyPr/>
                    <a:lstStyle/>
                    <a:p>
                      <a:pPr>
                        <a:buNone/>
                      </a:pPr>
                      <a:r>
                        <a:rPr lang="en-US" sz="2200" b="1" cap="none" spc="0">
                          <a:solidFill>
                            <a:schemeClr val="tx1"/>
                          </a:solidFill>
                        </a:rPr>
                        <a:t>Low Readiness</a:t>
                      </a:r>
                    </a:p>
                  </a:txBody>
                  <a:tcPr marL="235814" marR="235814" marT="235814" marB="235814"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2200" cap="none" spc="0">
                          <a:solidFill>
                            <a:schemeClr val="tx1"/>
                          </a:solidFill>
                        </a:rPr>
                        <a:t>&lt; 60%</a:t>
                      </a:r>
                    </a:p>
                  </a:txBody>
                  <a:tcPr marL="235814" marR="235814" marT="235814" marB="235814"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2200" cap="none" spc="0" dirty="0">
                          <a:solidFill>
                            <a:schemeClr val="tx1"/>
                          </a:solidFill>
                        </a:rPr>
                        <a:t>13   </a:t>
                      </a:r>
                      <a:r>
                        <a:rPr lang="en-IN" sz="2400" kern="1200" dirty="0">
                          <a:solidFill>
                            <a:schemeClr val="dk1"/>
                          </a:solidFill>
                          <a:effectLst/>
                          <a:latin typeface="+mn-lt"/>
                          <a:ea typeface="+mn-ea"/>
                          <a:cs typeface="+mn-cs"/>
                        </a:rPr>
                        <a:t>🔴</a:t>
                      </a:r>
                      <a:endParaRPr lang="en-US" sz="2200" cap="none" spc="0" dirty="0">
                        <a:solidFill>
                          <a:schemeClr val="tx1"/>
                        </a:solidFill>
                      </a:endParaRPr>
                    </a:p>
                  </a:txBody>
                  <a:tcPr marL="235814" marR="235814" marT="235814" marB="235814"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933381488"/>
                  </a:ext>
                </a:extLst>
              </a:tr>
            </a:tbl>
          </a:graphicData>
        </a:graphic>
      </p:graphicFrame>
    </p:spTree>
    <p:extLst>
      <p:ext uri="{BB962C8B-B14F-4D97-AF65-F5344CB8AC3E}">
        <p14:creationId xmlns:p14="http://schemas.microsoft.com/office/powerpoint/2010/main" val="227047071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F9E6D-14AF-2233-835C-6F2D621F4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E8237-5F46-0E07-6BC2-46E270C35791}"/>
              </a:ext>
            </a:extLst>
          </p:cNvPr>
          <p:cNvSpPr>
            <a:spLocks noGrp="1"/>
          </p:cNvSpPr>
          <p:nvPr>
            <p:ph type="ctrTitle"/>
          </p:nvPr>
        </p:nvSpPr>
        <p:spPr>
          <a:xfrm>
            <a:off x="457199" y="457200"/>
            <a:ext cx="9982201" cy="6172200"/>
          </a:xfrm>
        </p:spPr>
        <p:txBody>
          <a:bodyPr anchor="b">
            <a:normAutofit/>
          </a:bodyPr>
          <a:lstStyle/>
          <a:p>
            <a:r>
              <a:rPr lang="en-IN" b="1" dirty="0"/>
              <a:t>Top &amp; Bottom Readiness Highlights</a:t>
            </a:r>
          </a:p>
        </p:txBody>
      </p:sp>
      <p:pic>
        <p:nvPicPr>
          <p:cNvPr id="3074" name="Picture 2" descr="Free Vector | Data analysis technology template vector in dark blue tone">
            <a:extLst>
              <a:ext uri="{FF2B5EF4-FFF2-40B4-BE49-F238E27FC236}">
                <a16:creationId xmlns:a16="http://schemas.microsoft.com/office/drawing/2014/main" id="{25D81AA1-CCBF-0BDB-B816-E7B2AE6D9F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3757"/>
          <a:stretch>
            <a:fillRect/>
          </a:stretch>
        </p:blipFill>
        <p:spPr bwMode="auto">
          <a:xfrm>
            <a:off x="567417" y="370115"/>
            <a:ext cx="4342040" cy="37446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3330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8ADCB-4A33-76C2-CD52-060F50214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BE1BC-7089-2BA4-ABDC-AD9661011437}"/>
              </a:ext>
            </a:extLst>
          </p:cNvPr>
          <p:cNvSpPr>
            <a:spLocks noGrp="1"/>
          </p:cNvSpPr>
          <p:nvPr>
            <p:ph type="title"/>
          </p:nvPr>
        </p:nvSpPr>
        <p:spPr>
          <a:xfrm>
            <a:off x="457200" y="490128"/>
            <a:ext cx="11277599" cy="914400"/>
          </a:xfrm>
        </p:spPr>
        <p:txBody>
          <a:bodyPr anchor="t">
            <a:normAutofit/>
          </a:bodyPr>
          <a:lstStyle/>
          <a:p>
            <a:r>
              <a:rPr lang="en-US" dirty="0"/>
              <a:t>Top 10 Ready Applications</a:t>
            </a:r>
          </a:p>
        </p:txBody>
      </p:sp>
      <p:graphicFrame>
        <p:nvGraphicFramePr>
          <p:cNvPr id="6" name="Table 5">
            <a:extLst>
              <a:ext uri="{FF2B5EF4-FFF2-40B4-BE49-F238E27FC236}">
                <a16:creationId xmlns:a16="http://schemas.microsoft.com/office/drawing/2014/main" id="{0E85F22F-FBAE-262B-87EC-BF05CDFFDB36}"/>
              </a:ext>
            </a:extLst>
          </p:cNvPr>
          <p:cNvGraphicFramePr>
            <a:graphicFrameLocks noGrp="1"/>
          </p:cNvGraphicFramePr>
          <p:nvPr/>
        </p:nvGraphicFramePr>
        <p:xfrm>
          <a:off x="457199" y="1586049"/>
          <a:ext cx="11277600" cy="4023360"/>
        </p:xfrm>
        <a:graphic>
          <a:graphicData uri="http://schemas.openxmlformats.org/drawingml/2006/table">
            <a:tbl>
              <a:tblPr>
                <a:tableStyleId>{16D9F66E-5EB9-4882-86FB-DCBF35E3C3E4}</a:tableStyleId>
              </a:tblPr>
              <a:tblGrid>
                <a:gridCol w="3759200">
                  <a:extLst>
                    <a:ext uri="{9D8B030D-6E8A-4147-A177-3AD203B41FA5}">
                      <a16:colId xmlns:a16="http://schemas.microsoft.com/office/drawing/2014/main" val="2645563208"/>
                    </a:ext>
                  </a:extLst>
                </a:gridCol>
                <a:gridCol w="3759200">
                  <a:extLst>
                    <a:ext uri="{9D8B030D-6E8A-4147-A177-3AD203B41FA5}">
                      <a16:colId xmlns:a16="http://schemas.microsoft.com/office/drawing/2014/main" val="2667871949"/>
                    </a:ext>
                  </a:extLst>
                </a:gridCol>
                <a:gridCol w="3759200">
                  <a:extLst>
                    <a:ext uri="{9D8B030D-6E8A-4147-A177-3AD203B41FA5}">
                      <a16:colId xmlns:a16="http://schemas.microsoft.com/office/drawing/2014/main" val="389402398"/>
                    </a:ext>
                  </a:extLst>
                </a:gridCol>
              </a:tblGrid>
              <a:tr h="0">
                <a:tc>
                  <a:txBody>
                    <a:bodyPr/>
                    <a:lstStyle/>
                    <a:p>
                      <a:pPr>
                        <a:buNone/>
                      </a:pPr>
                      <a:r>
                        <a:rPr lang="en-IN" b="1"/>
                        <a:t>#</a:t>
                      </a:r>
                    </a:p>
                  </a:txBody>
                  <a:tcPr anchor="ctr"/>
                </a:tc>
                <a:tc>
                  <a:txBody>
                    <a:bodyPr/>
                    <a:lstStyle/>
                    <a:p>
                      <a:pPr>
                        <a:buNone/>
                      </a:pPr>
                      <a:r>
                        <a:rPr lang="en-IN" b="1"/>
                        <a:t>Application</a:t>
                      </a:r>
                    </a:p>
                  </a:txBody>
                  <a:tcPr anchor="ctr"/>
                </a:tc>
                <a:tc>
                  <a:txBody>
                    <a:bodyPr/>
                    <a:lstStyle/>
                    <a:p>
                      <a:pPr>
                        <a:buNone/>
                      </a:pPr>
                      <a:r>
                        <a:rPr lang="en-IN" b="1" dirty="0"/>
                        <a:t>Readiness %</a:t>
                      </a:r>
                    </a:p>
                  </a:txBody>
                  <a:tcPr anchor="ctr"/>
                </a:tc>
                <a:extLst>
                  <a:ext uri="{0D108BD9-81ED-4DB2-BD59-A6C34878D82A}">
                    <a16:rowId xmlns:a16="http://schemas.microsoft.com/office/drawing/2014/main" val="697439069"/>
                  </a:ext>
                </a:extLst>
              </a:tr>
              <a:tr h="0">
                <a:tc>
                  <a:txBody>
                    <a:bodyPr/>
                    <a:lstStyle/>
                    <a:p>
                      <a:pPr>
                        <a:buNone/>
                      </a:pPr>
                      <a:r>
                        <a:rPr lang="en-IN"/>
                        <a:t>1</a:t>
                      </a:r>
                    </a:p>
                  </a:txBody>
                  <a:tcPr anchor="ctr"/>
                </a:tc>
                <a:tc>
                  <a:txBody>
                    <a:bodyPr/>
                    <a:lstStyle/>
                    <a:p>
                      <a:pPr>
                        <a:buNone/>
                      </a:pPr>
                      <a:r>
                        <a:rPr lang="en-IN" dirty="0"/>
                        <a:t>Mainframe Commercial Property</a:t>
                      </a:r>
                    </a:p>
                  </a:txBody>
                  <a:tcPr anchor="ctr"/>
                </a:tc>
                <a:tc>
                  <a:txBody>
                    <a:bodyPr/>
                    <a:lstStyle/>
                    <a:p>
                      <a:pPr>
                        <a:buNone/>
                      </a:pPr>
                      <a:r>
                        <a:rPr lang="en-IN"/>
                        <a:t>100.00</a:t>
                      </a:r>
                    </a:p>
                  </a:txBody>
                  <a:tcPr anchor="ctr"/>
                </a:tc>
                <a:extLst>
                  <a:ext uri="{0D108BD9-81ED-4DB2-BD59-A6C34878D82A}">
                    <a16:rowId xmlns:a16="http://schemas.microsoft.com/office/drawing/2014/main" val="398105522"/>
                  </a:ext>
                </a:extLst>
              </a:tr>
              <a:tr h="0">
                <a:tc>
                  <a:txBody>
                    <a:bodyPr/>
                    <a:lstStyle/>
                    <a:p>
                      <a:pPr>
                        <a:buNone/>
                      </a:pPr>
                      <a:r>
                        <a:rPr lang="en-IN" dirty="0"/>
                        <a:t>2</a:t>
                      </a:r>
                    </a:p>
                  </a:txBody>
                  <a:tcPr anchor="ctr"/>
                </a:tc>
                <a:tc>
                  <a:txBody>
                    <a:bodyPr/>
                    <a:lstStyle/>
                    <a:p>
                      <a:pPr>
                        <a:buNone/>
                      </a:pPr>
                      <a:r>
                        <a:rPr lang="en-IN" dirty="0"/>
                        <a:t>Commercial Mainframe COI</a:t>
                      </a:r>
                    </a:p>
                  </a:txBody>
                  <a:tcPr anchor="ctr"/>
                </a:tc>
                <a:tc>
                  <a:txBody>
                    <a:bodyPr/>
                    <a:lstStyle/>
                    <a:p>
                      <a:pPr>
                        <a:buNone/>
                      </a:pPr>
                      <a:r>
                        <a:rPr lang="en-IN"/>
                        <a:t>100.00</a:t>
                      </a:r>
                    </a:p>
                  </a:txBody>
                  <a:tcPr anchor="ctr"/>
                </a:tc>
                <a:extLst>
                  <a:ext uri="{0D108BD9-81ED-4DB2-BD59-A6C34878D82A}">
                    <a16:rowId xmlns:a16="http://schemas.microsoft.com/office/drawing/2014/main" val="3189073189"/>
                  </a:ext>
                </a:extLst>
              </a:tr>
              <a:tr h="0">
                <a:tc>
                  <a:txBody>
                    <a:bodyPr/>
                    <a:lstStyle/>
                    <a:p>
                      <a:pPr>
                        <a:buNone/>
                      </a:pPr>
                      <a:r>
                        <a:rPr lang="en-IN"/>
                        <a:t>3</a:t>
                      </a:r>
                    </a:p>
                  </a:txBody>
                  <a:tcPr anchor="ctr"/>
                </a:tc>
                <a:tc>
                  <a:txBody>
                    <a:bodyPr/>
                    <a:lstStyle/>
                    <a:p>
                      <a:pPr>
                        <a:buNone/>
                      </a:pPr>
                      <a:r>
                        <a:rPr lang="en-IN"/>
                        <a:t>Mainframe Policy Entry</a:t>
                      </a:r>
                    </a:p>
                  </a:txBody>
                  <a:tcPr anchor="ctr"/>
                </a:tc>
                <a:tc>
                  <a:txBody>
                    <a:bodyPr/>
                    <a:lstStyle/>
                    <a:p>
                      <a:pPr>
                        <a:buNone/>
                      </a:pPr>
                      <a:r>
                        <a:rPr lang="en-IN"/>
                        <a:t>100.00</a:t>
                      </a:r>
                    </a:p>
                  </a:txBody>
                  <a:tcPr anchor="ctr"/>
                </a:tc>
                <a:extLst>
                  <a:ext uri="{0D108BD9-81ED-4DB2-BD59-A6C34878D82A}">
                    <a16:rowId xmlns:a16="http://schemas.microsoft.com/office/drawing/2014/main" val="1439779555"/>
                  </a:ext>
                </a:extLst>
              </a:tr>
              <a:tr h="0">
                <a:tc>
                  <a:txBody>
                    <a:bodyPr/>
                    <a:lstStyle/>
                    <a:p>
                      <a:pPr>
                        <a:buNone/>
                      </a:pPr>
                      <a:r>
                        <a:rPr lang="en-IN"/>
                        <a:t>4</a:t>
                      </a:r>
                    </a:p>
                  </a:txBody>
                  <a:tcPr anchor="ctr"/>
                </a:tc>
                <a:tc>
                  <a:txBody>
                    <a:bodyPr/>
                    <a:lstStyle/>
                    <a:p>
                      <a:pPr>
                        <a:buNone/>
                      </a:pPr>
                      <a:r>
                        <a:rPr lang="en-IN" dirty="0"/>
                        <a:t>HV - </a:t>
                      </a:r>
                      <a:r>
                        <a:rPr lang="en-IN" dirty="0" err="1"/>
                        <a:t>eForms</a:t>
                      </a:r>
                      <a:r>
                        <a:rPr lang="en-IN" dirty="0"/>
                        <a:t> Generation App</a:t>
                      </a:r>
                    </a:p>
                  </a:txBody>
                  <a:tcPr anchor="ctr"/>
                </a:tc>
                <a:tc>
                  <a:txBody>
                    <a:bodyPr/>
                    <a:lstStyle/>
                    <a:p>
                      <a:pPr>
                        <a:buNone/>
                      </a:pPr>
                      <a:r>
                        <a:rPr lang="en-IN"/>
                        <a:t>98.68</a:t>
                      </a:r>
                    </a:p>
                  </a:txBody>
                  <a:tcPr anchor="ctr"/>
                </a:tc>
                <a:extLst>
                  <a:ext uri="{0D108BD9-81ED-4DB2-BD59-A6C34878D82A}">
                    <a16:rowId xmlns:a16="http://schemas.microsoft.com/office/drawing/2014/main" val="3805111665"/>
                  </a:ext>
                </a:extLst>
              </a:tr>
              <a:tr h="0">
                <a:tc>
                  <a:txBody>
                    <a:bodyPr/>
                    <a:lstStyle/>
                    <a:p>
                      <a:pPr>
                        <a:buNone/>
                      </a:pPr>
                      <a:r>
                        <a:rPr lang="en-IN"/>
                        <a:t>5</a:t>
                      </a:r>
                    </a:p>
                  </a:txBody>
                  <a:tcPr anchor="ctr"/>
                </a:tc>
                <a:tc>
                  <a:txBody>
                    <a:bodyPr/>
                    <a:lstStyle/>
                    <a:p>
                      <a:pPr>
                        <a:buNone/>
                      </a:pPr>
                      <a:r>
                        <a:rPr lang="en-IN"/>
                        <a:t>HV-COGNOS</a:t>
                      </a:r>
                    </a:p>
                  </a:txBody>
                  <a:tcPr anchor="ctr"/>
                </a:tc>
                <a:tc>
                  <a:txBody>
                    <a:bodyPr/>
                    <a:lstStyle/>
                    <a:p>
                      <a:pPr>
                        <a:buNone/>
                      </a:pPr>
                      <a:r>
                        <a:rPr lang="en-IN"/>
                        <a:t>98.68</a:t>
                      </a:r>
                    </a:p>
                  </a:txBody>
                  <a:tcPr anchor="ctr"/>
                </a:tc>
                <a:extLst>
                  <a:ext uri="{0D108BD9-81ED-4DB2-BD59-A6C34878D82A}">
                    <a16:rowId xmlns:a16="http://schemas.microsoft.com/office/drawing/2014/main" val="3011723720"/>
                  </a:ext>
                </a:extLst>
              </a:tr>
              <a:tr h="0">
                <a:tc>
                  <a:txBody>
                    <a:bodyPr/>
                    <a:lstStyle/>
                    <a:p>
                      <a:pPr>
                        <a:buNone/>
                      </a:pPr>
                      <a:r>
                        <a:rPr lang="en-IN" dirty="0"/>
                        <a:t>6</a:t>
                      </a:r>
                    </a:p>
                  </a:txBody>
                  <a:tcPr anchor="ctr"/>
                </a:tc>
                <a:tc>
                  <a:txBody>
                    <a:bodyPr/>
                    <a:lstStyle/>
                    <a:p>
                      <a:pPr>
                        <a:buNone/>
                      </a:pPr>
                      <a:r>
                        <a:rPr lang="en-IN"/>
                        <a:t>HV-ACE - Premium Audit</a:t>
                      </a:r>
                    </a:p>
                  </a:txBody>
                  <a:tcPr anchor="ctr"/>
                </a:tc>
                <a:tc>
                  <a:txBody>
                    <a:bodyPr/>
                    <a:lstStyle/>
                    <a:p>
                      <a:pPr>
                        <a:buNone/>
                      </a:pPr>
                      <a:r>
                        <a:rPr lang="en-IN"/>
                        <a:t>98.68</a:t>
                      </a:r>
                    </a:p>
                  </a:txBody>
                  <a:tcPr anchor="ctr"/>
                </a:tc>
                <a:extLst>
                  <a:ext uri="{0D108BD9-81ED-4DB2-BD59-A6C34878D82A}">
                    <a16:rowId xmlns:a16="http://schemas.microsoft.com/office/drawing/2014/main" val="1833116058"/>
                  </a:ext>
                </a:extLst>
              </a:tr>
              <a:tr h="0">
                <a:tc>
                  <a:txBody>
                    <a:bodyPr/>
                    <a:lstStyle/>
                    <a:p>
                      <a:pPr>
                        <a:buNone/>
                      </a:pPr>
                      <a:r>
                        <a:rPr lang="en-IN"/>
                        <a:t>7</a:t>
                      </a:r>
                    </a:p>
                  </a:txBody>
                  <a:tcPr anchor="ctr"/>
                </a:tc>
                <a:tc>
                  <a:txBody>
                    <a:bodyPr/>
                    <a:lstStyle/>
                    <a:p>
                      <a:pPr>
                        <a:buNone/>
                      </a:pPr>
                      <a:r>
                        <a:rPr lang="en-IN"/>
                        <a:t>HV-ImageRight</a:t>
                      </a:r>
                    </a:p>
                  </a:txBody>
                  <a:tcPr anchor="ctr"/>
                </a:tc>
                <a:tc>
                  <a:txBody>
                    <a:bodyPr/>
                    <a:lstStyle/>
                    <a:p>
                      <a:pPr>
                        <a:buNone/>
                      </a:pPr>
                      <a:r>
                        <a:rPr lang="en-IN"/>
                        <a:t>98.68</a:t>
                      </a:r>
                    </a:p>
                  </a:txBody>
                  <a:tcPr anchor="ctr"/>
                </a:tc>
                <a:extLst>
                  <a:ext uri="{0D108BD9-81ED-4DB2-BD59-A6C34878D82A}">
                    <a16:rowId xmlns:a16="http://schemas.microsoft.com/office/drawing/2014/main" val="1067717071"/>
                  </a:ext>
                </a:extLst>
              </a:tr>
              <a:tr h="0">
                <a:tc>
                  <a:txBody>
                    <a:bodyPr/>
                    <a:lstStyle/>
                    <a:p>
                      <a:pPr>
                        <a:buNone/>
                      </a:pPr>
                      <a:r>
                        <a:rPr lang="en-IN"/>
                        <a:t>8</a:t>
                      </a:r>
                    </a:p>
                  </a:txBody>
                  <a:tcPr anchor="ctr"/>
                </a:tc>
                <a:tc>
                  <a:txBody>
                    <a:bodyPr/>
                    <a:lstStyle/>
                    <a:p>
                      <a:pPr>
                        <a:buNone/>
                      </a:pPr>
                      <a:r>
                        <a:rPr lang="en-IN"/>
                        <a:t>HV-Hazard Grade Matrix (HGM)</a:t>
                      </a:r>
                    </a:p>
                  </a:txBody>
                  <a:tcPr anchor="ctr"/>
                </a:tc>
                <a:tc>
                  <a:txBody>
                    <a:bodyPr/>
                    <a:lstStyle/>
                    <a:p>
                      <a:pPr>
                        <a:buNone/>
                      </a:pPr>
                      <a:r>
                        <a:rPr lang="en-IN"/>
                        <a:t>98.68</a:t>
                      </a:r>
                    </a:p>
                  </a:txBody>
                  <a:tcPr anchor="ctr"/>
                </a:tc>
                <a:extLst>
                  <a:ext uri="{0D108BD9-81ED-4DB2-BD59-A6C34878D82A}">
                    <a16:rowId xmlns:a16="http://schemas.microsoft.com/office/drawing/2014/main" val="3716238686"/>
                  </a:ext>
                </a:extLst>
              </a:tr>
              <a:tr h="0">
                <a:tc>
                  <a:txBody>
                    <a:bodyPr/>
                    <a:lstStyle/>
                    <a:p>
                      <a:pPr>
                        <a:buNone/>
                      </a:pPr>
                      <a:r>
                        <a:rPr lang="en-IN"/>
                        <a:t>9</a:t>
                      </a:r>
                    </a:p>
                  </a:txBody>
                  <a:tcPr anchor="ctr"/>
                </a:tc>
                <a:tc>
                  <a:txBody>
                    <a:bodyPr/>
                    <a:lstStyle/>
                    <a:p>
                      <a:pPr>
                        <a:buNone/>
                      </a:pPr>
                      <a:r>
                        <a:rPr lang="en-IN"/>
                        <a:t>Mainframe General Liability (GLS)</a:t>
                      </a:r>
                    </a:p>
                  </a:txBody>
                  <a:tcPr anchor="ctr"/>
                </a:tc>
                <a:tc>
                  <a:txBody>
                    <a:bodyPr/>
                    <a:lstStyle/>
                    <a:p>
                      <a:pPr>
                        <a:buNone/>
                      </a:pPr>
                      <a:r>
                        <a:rPr lang="en-IN"/>
                        <a:t>97.37</a:t>
                      </a:r>
                    </a:p>
                  </a:txBody>
                  <a:tcPr anchor="ctr"/>
                </a:tc>
                <a:extLst>
                  <a:ext uri="{0D108BD9-81ED-4DB2-BD59-A6C34878D82A}">
                    <a16:rowId xmlns:a16="http://schemas.microsoft.com/office/drawing/2014/main" val="2012763875"/>
                  </a:ext>
                </a:extLst>
              </a:tr>
              <a:tr h="0">
                <a:tc>
                  <a:txBody>
                    <a:bodyPr/>
                    <a:lstStyle/>
                    <a:p>
                      <a:pPr>
                        <a:buNone/>
                      </a:pPr>
                      <a:r>
                        <a:rPr lang="en-IN" dirty="0"/>
                        <a:t>10</a:t>
                      </a:r>
                    </a:p>
                  </a:txBody>
                  <a:tcPr anchor="ctr"/>
                </a:tc>
                <a:tc>
                  <a:txBody>
                    <a:bodyPr/>
                    <a:lstStyle/>
                    <a:p>
                      <a:pPr>
                        <a:buNone/>
                      </a:pPr>
                      <a:r>
                        <a:rPr lang="en-IN"/>
                        <a:t>HV-U279 Processing Form</a:t>
                      </a:r>
                    </a:p>
                  </a:txBody>
                  <a:tcPr anchor="ctr"/>
                </a:tc>
                <a:tc>
                  <a:txBody>
                    <a:bodyPr/>
                    <a:lstStyle/>
                    <a:p>
                      <a:pPr>
                        <a:buNone/>
                      </a:pPr>
                      <a:r>
                        <a:rPr lang="en-IN" dirty="0"/>
                        <a:t>97.37</a:t>
                      </a:r>
                    </a:p>
                  </a:txBody>
                  <a:tcPr anchor="ctr"/>
                </a:tc>
                <a:extLst>
                  <a:ext uri="{0D108BD9-81ED-4DB2-BD59-A6C34878D82A}">
                    <a16:rowId xmlns:a16="http://schemas.microsoft.com/office/drawing/2014/main" val="538007496"/>
                  </a:ext>
                </a:extLst>
              </a:tr>
            </a:tbl>
          </a:graphicData>
        </a:graphic>
      </p:graphicFrame>
    </p:spTree>
    <p:extLst>
      <p:ext uri="{BB962C8B-B14F-4D97-AF65-F5344CB8AC3E}">
        <p14:creationId xmlns:p14="http://schemas.microsoft.com/office/powerpoint/2010/main" val="139512123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2A93D-647A-9492-0B3C-41CB91D29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9F613-040B-2EC8-E867-AB171AC2A1B5}"/>
              </a:ext>
            </a:extLst>
          </p:cNvPr>
          <p:cNvSpPr>
            <a:spLocks noGrp="1"/>
          </p:cNvSpPr>
          <p:nvPr>
            <p:ph type="title"/>
          </p:nvPr>
        </p:nvSpPr>
        <p:spPr>
          <a:xfrm>
            <a:off x="457200" y="490128"/>
            <a:ext cx="11277599" cy="914400"/>
          </a:xfrm>
        </p:spPr>
        <p:txBody>
          <a:bodyPr anchor="t">
            <a:normAutofit/>
          </a:bodyPr>
          <a:lstStyle/>
          <a:p>
            <a:r>
              <a:rPr lang="en-IN" dirty="0"/>
              <a:t>Bottom 10 - Need Inputs</a:t>
            </a:r>
            <a:endParaRPr lang="en-US" dirty="0"/>
          </a:p>
        </p:txBody>
      </p:sp>
      <p:graphicFrame>
        <p:nvGraphicFramePr>
          <p:cNvPr id="3" name="Table 2">
            <a:extLst>
              <a:ext uri="{FF2B5EF4-FFF2-40B4-BE49-F238E27FC236}">
                <a16:creationId xmlns:a16="http://schemas.microsoft.com/office/drawing/2014/main" id="{6ED1E334-103E-DEA4-871B-D8B33AA9EA7A}"/>
              </a:ext>
            </a:extLst>
          </p:cNvPr>
          <p:cNvGraphicFramePr>
            <a:graphicFrameLocks noGrp="1"/>
          </p:cNvGraphicFramePr>
          <p:nvPr/>
        </p:nvGraphicFramePr>
        <p:xfrm>
          <a:off x="457200" y="1694905"/>
          <a:ext cx="11277600" cy="4023360"/>
        </p:xfrm>
        <a:graphic>
          <a:graphicData uri="http://schemas.openxmlformats.org/drawingml/2006/table">
            <a:tbl>
              <a:tblPr>
                <a:tableStyleId>{ED083AE6-46FA-4A59-8FB0-9F97EB10719F}</a:tableStyleId>
              </a:tblPr>
              <a:tblGrid>
                <a:gridCol w="3759200">
                  <a:extLst>
                    <a:ext uri="{9D8B030D-6E8A-4147-A177-3AD203B41FA5}">
                      <a16:colId xmlns:a16="http://schemas.microsoft.com/office/drawing/2014/main" val="1818811997"/>
                    </a:ext>
                  </a:extLst>
                </a:gridCol>
                <a:gridCol w="3759200">
                  <a:extLst>
                    <a:ext uri="{9D8B030D-6E8A-4147-A177-3AD203B41FA5}">
                      <a16:colId xmlns:a16="http://schemas.microsoft.com/office/drawing/2014/main" val="1840518319"/>
                    </a:ext>
                  </a:extLst>
                </a:gridCol>
                <a:gridCol w="3759200">
                  <a:extLst>
                    <a:ext uri="{9D8B030D-6E8A-4147-A177-3AD203B41FA5}">
                      <a16:colId xmlns:a16="http://schemas.microsoft.com/office/drawing/2014/main" val="2370734341"/>
                    </a:ext>
                  </a:extLst>
                </a:gridCol>
              </a:tblGrid>
              <a:tr h="0">
                <a:tc>
                  <a:txBody>
                    <a:bodyPr/>
                    <a:lstStyle/>
                    <a:p>
                      <a:pPr>
                        <a:buNone/>
                      </a:pPr>
                      <a:r>
                        <a:rPr lang="en-IN" sz="1800" b="1" kern="1200">
                          <a:solidFill>
                            <a:schemeClr val="dk1"/>
                          </a:solidFill>
                        </a:rPr>
                        <a:t>#</a:t>
                      </a:r>
                      <a:endParaRPr lang="en-IN" sz="1800" b="1" kern="1200">
                        <a:solidFill>
                          <a:schemeClr val="dk1"/>
                        </a:solidFill>
                        <a:latin typeface="+mn-lt"/>
                        <a:ea typeface="+mn-ea"/>
                        <a:cs typeface="+mn-cs"/>
                      </a:endParaRPr>
                    </a:p>
                  </a:txBody>
                  <a:tcPr anchor="ctr"/>
                </a:tc>
                <a:tc>
                  <a:txBody>
                    <a:bodyPr/>
                    <a:lstStyle/>
                    <a:p>
                      <a:pPr>
                        <a:buNone/>
                      </a:pPr>
                      <a:r>
                        <a:rPr lang="en-IN" sz="1800" b="1" kern="1200" dirty="0">
                          <a:solidFill>
                            <a:schemeClr val="dk1"/>
                          </a:solidFill>
                        </a:rPr>
                        <a:t>Application</a:t>
                      </a:r>
                      <a:endParaRPr lang="en-IN" sz="1800" b="1" kern="1200" dirty="0">
                        <a:solidFill>
                          <a:schemeClr val="dk1"/>
                        </a:solidFill>
                        <a:latin typeface="+mn-lt"/>
                        <a:ea typeface="+mn-ea"/>
                        <a:cs typeface="+mn-cs"/>
                      </a:endParaRPr>
                    </a:p>
                  </a:txBody>
                  <a:tcPr anchor="ctr"/>
                </a:tc>
                <a:tc>
                  <a:txBody>
                    <a:bodyPr/>
                    <a:lstStyle/>
                    <a:p>
                      <a:pPr>
                        <a:buNone/>
                      </a:pPr>
                      <a:r>
                        <a:rPr lang="en-IN" sz="1800" b="1" kern="1200" dirty="0">
                          <a:solidFill>
                            <a:schemeClr val="dk1"/>
                          </a:solidFill>
                        </a:rPr>
                        <a:t>Readiness %</a:t>
                      </a:r>
                      <a:endParaRPr lang="en-IN" sz="1800" b="1" kern="1200" dirty="0">
                        <a:solidFill>
                          <a:schemeClr val="dk1"/>
                        </a:solidFill>
                        <a:latin typeface="+mn-lt"/>
                        <a:ea typeface="+mn-ea"/>
                        <a:cs typeface="+mn-cs"/>
                      </a:endParaRPr>
                    </a:p>
                  </a:txBody>
                  <a:tcPr anchor="ctr"/>
                </a:tc>
                <a:extLst>
                  <a:ext uri="{0D108BD9-81ED-4DB2-BD59-A6C34878D82A}">
                    <a16:rowId xmlns:a16="http://schemas.microsoft.com/office/drawing/2014/main" val="4186428156"/>
                  </a:ext>
                </a:extLst>
              </a:tr>
              <a:tr h="0">
                <a:tc>
                  <a:txBody>
                    <a:bodyPr/>
                    <a:lstStyle/>
                    <a:p>
                      <a:pPr>
                        <a:buNone/>
                      </a:pPr>
                      <a:r>
                        <a:rPr lang="en-IN" sz="1800" kern="1200">
                          <a:solidFill>
                            <a:schemeClr val="dk1"/>
                          </a:solidFill>
                        </a:rPr>
                        <a:t>1</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Pathway (DSM)</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34.21</a:t>
                      </a:r>
                      <a:endParaRPr lang="en-IN" sz="1800" kern="1200">
                        <a:solidFill>
                          <a:schemeClr val="dk1"/>
                        </a:solidFill>
                        <a:latin typeface="+mn-lt"/>
                        <a:ea typeface="+mn-ea"/>
                        <a:cs typeface="+mn-cs"/>
                      </a:endParaRPr>
                    </a:p>
                  </a:txBody>
                  <a:tcPr anchor="ctr"/>
                </a:tc>
                <a:extLst>
                  <a:ext uri="{0D108BD9-81ED-4DB2-BD59-A6C34878D82A}">
                    <a16:rowId xmlns:a16="http://schemas.microsoft.com/office/drawing/2014/main" val="4023575024"/>
                  </a:ext>
                </a:extLst>
              </a:tr>
              <a:tr h="0">
                <a:tc>
                  <a:txBody>
                    <a:bodyPr/>
                    <a:lstStyle/>
                    <a:p>
                      <a:pPr>
                        <a:buNone/>
                      </a:pPr>
                      <a:r>
                        <a:rPr lang="en-IN" sz="1800" kern="1200">
                          <a:solidFill>
                            <a:schemeClr val="dk1"/>
                          </a:solidFill>
                        </a:rPr>
                        <a:t>2</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Error Message</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35.53</a:t>
                      </a:r>
                      <a:endParaRPr lang="en-IN" sz="1800" kern="1200">
                        <a:solidFill>
                          <a:schemeClr val="dk1"/>
                        </a:solidFill>
                        <a:latin typeface="+mn-lt"/>
                        <a:ea typeface="+mn-ea"/>
                        <a:cs typeface="+mn-cs"/>
                      </a:endParaRPr>
                    </a:p>
                  </a:txBody>
                  <a:tcPr anchor="ctr"/>
                </a:tc>
                <a:extLst>
                  <a:ext uri="{0D108BD9-81ED-4DB2-BD59-A6C34878D82A}">
                    <a16:rowId xmlns:a16="http://schemas.microsoft.com/office/drawing/2014/main" val="533149242"/>
                  </a:ext>
                </a:extLst>
              </a:tr>
              <a:tr h="0">
                <a:tc>
                  <a:txBody>
                    <a:bodyPr/>
                    <a:lstStyle/>
                    <a:p>
                      <a:pPr>
                        <a:buNone/>
                      </a:pPr>
                      <a:r>
                        <a:rPr lang="en-IN" sz="1800" kern="1200">
                          <a:solidFill>
                            <a:schemeClr val="dk1"/>
                          </a:solidFill>
                        </a:rPr>
                        <a:t>3</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Commercial Underwriting DB</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39.47</a:t>
                      </a:r>
                      <a:endParaRPr lang="en-IN" sz="1800" kern="1200">
                        <a:solidFill>
                          <a:schemeClr val="dk1"/>
                        </a:solidFill>
                        <a:latin typeface="+mn-lt"/>
                        <a:ea typeface="+mn-ea"/>
                        <a:cs typeface="+mn-cs"/>
                      </a:endParaRPr>
                    </a:p>
                  </a:txBody>
                  <a:tcPr anchor="ctr"/>
                </a:tc>
                <a:extLst>
                  <a:ext uri="{0D108BD9-81ED-4DB2-BD59-A6C34878D82A}">
                    <a16:rowId xmlns:a16="http://schemas.microsoft.com/office/drawing/2014/main" val="3010025770"/>
                  </a:ext>
                </a:extLst>
              </a:tr>
              <a:tr h="0">
                <a:tc>
                  <a:txBody>
                    <a:bodyPr/>
                    <a:lstStyle/>
                    <a:p>
                      <a:pPr>
                        <a:buNone/>
                      </a:pPr>
                      <a:r>
                        <a:rPr lang="en-IN" sz="1800" kern="1200">
                          <a:solidFill>
                            <a:schemeClr val="dk1"/>
                          </a:solidFill>
                        </a:rPr>
                        <a:t>4</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Commercial Renewal Reporting DB</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39.47</a:t>
                      </a:r>
                      <a:endParaRPr lang="en-IN" sz="1800" kern="1200">
                        <a:solidFill>
                          <a:schemeClr val="dk1"/>
                        </a:solidFill>
                        <a:latin typeface="+mn-lt"/>
                        <a:ea typeface="+mn-ea"/>
                        <a:cs typeface="+mn-cs"/>
                      </a:endParaRPr>
                    </a:p>
                  </a:txBody>
                  <a:tcPr anchor="ctr"/>
                </a:tc>
                <a:extLst>
                  <a:ext uri="{0D108BD9-81ED-4DB2-BD59-A6C34878D82A}">
                    <a16:rowId xmlns:a16="http://schemas.microsoft.com/office/drawing/2014/main" val="1694701557"/>
                  </a:ext>
                </a:extLst>
              </a:tr>
              <a:tr h="0">
                <a:tc>
                  <a:txBody>
                    <a:bodyPr/>
                    <a:lstStyle/>
                    <a:p>
                      <a:pPr>
                        <a:buNone/>
                      </a:pPr>
                      <a:r>
                        <a:rPr lang="en-IN" sz="1800" kern="1200">
                          <a:solidFill>
                            <a:schemeClr val="dk1"/>
                          </a:solidFill>
                        </a:rPr>
                        <a:t>5</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Policy Expirations</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40.79</a:t>
                      </a:r>
                      <a:endParaRPr lang="en-IN" sz="1800" kern="1200">
                        <a:solidFill>
                          <a:schemeClr val="dk1"/>
                        </a:solidFill>
                        <a:latin typeface="+mn-lt"/>
                        <a:ea typeface="+mn-ea"/>
                        <a:cs typeface="+mn-cs"/>
                      </a:endParaRPr>
                    </a:p>
                  </a:txBody>
                  <a:tcPr anchor="ctr"/>
                </a:tc>
                <a:extLst>
                  <a:ext uri="{0D108BD9-81ED-4DB2-BD59-A6C34878D82A}">
                    <a16:rowId xmlns:a16="http://schemas.microsoft.com/office/drawing/2014/main" val="1271579048"/>
                  </a:ext>
                </a:extLst>
              </a:tr>
              <a:tr h="0">
                <a:tc>
                  <a:txBody>
                    <a:bodyPr/>
                    <a:lstStyle/>
                    <a:p>
                      <a:pPr>
                        <a:buNone/>
                      </a:pPr>
                      <a:r>
                        <a:rPr lang="en-IN" sz="1800" kern="1200">
                          <a:solidFill>
                            <a:schemeClr val="dk1"/>
                          </a:solidFill>
                        </a:rPr>
                        <a:t>6</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Policy Reload</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42.11</a:t>
                      </a:r>
                      <a:endParaRPr lang="en-IN" sz="1800" kern="1200">
                        <a:solidFill>
                          <a:schemeClr val="dk1"/>
                        </a:solidFill>
                        <a:latin typeface="+mn-lt"/>
                        <a:ea typeface="+mn-ea"/>
                        <a:cs typeface="+mn-cs"/>
                      </a:endParaRPr>
                    </a:p>
                  </a:txBody>
                  <a:tcPr anchor="ctr"/>
                </a:tc>
                <a:extLst>
                  <a:ext uri="{0D108BD9-81ED-4DB2-BD59-A6C34878D82A}">
                    <a16:rowId xmlns:a16="http://schemas.microsoft.com/office/drawing/2014/main" val="2026349324"/>
                  </a:ext>
                </a:extLst>
              </a:tr>
              <a:tr h="0">
                <a:tc>
                  <a:txBody>
                    <a:bodyPr/>
                    <a:lstStyle/>
                    <a:p>
                      <a:pPr>
                        <a:buNone/>
                      </a:pPr>
                      <a:r>
                        <a:rPr lang="en-IN" sz="1800" kern="1200">
                          <a:solidFill>
                            <a:schemeClr val="dk1"/>
                          </a:solidFill>
                        </a:rPr>
                        <a:t>7</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Allied Endorsements</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43.42</a:t>
                      </a:r>
                      <a:endParaRPr lang="en-IN" sz="1800" kern="1200">
                        <a:solidFill>
                          <a:schemeClr val="dk1"/>
                        </a:solidFill>
                        <a:latin typeface="+mn-lt"/>
                        <a:ea typeface="+mn-ea"/>
                        <a:cs typeface="+mn-cs"/>
                      </a:endParaRPr>
                    </a:p>
                  </a:txBody>
                  <a:tcPr anchor="ctr"/>
                </a:tc>
                <a:extLst>
                  <a:ext uri="{0D108BD9-81ED-4DB2-BD59-A6C34878D82A}">
                    <a16:rowId xmlns:a16="http://schemas.microsoft.com/office/drawing/2014/main" val="1136155124"/>
                  </a:ext>
                </a:extLst>
              </a:tr>
              <a:tr h="0">
                <a:tc>
                  <a:txBody>
                    <a:bodyPr/>
                    <a:lstStyle/>
                    <a:p>
                      <a:pPr>
                        <a:buNone/>
                      </a:pPr>
                      <a:r>
                        <a:rPr lang="en-IN" sz="1800" kern="1200">
                          <a:solidFill>
                            <a:schemeClr val="dk1"/>
                          </a:solidFill>
                        </a:rPr>
                        <a:t>8</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Alpha Search</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44.74</a:t>
                      </a:r>
                      <a:endParaRPr lang="en-IN" sz="1800" kern="1200">
                        <a:solidFill>
                          <a:schemeClr val="dk1"/>
                        </a:solidFill>
                        <a:latin typeface="+mn-lt"/>
                        <a:ea typeface="+mn-ea"/>
                        <a:cs typeface="+mn-cs"/>
                      </a:endParaRPr>
                    </a:p>
                  </a:txBody>
                  <a:tcPr anchor="ctr"/>
                </a:tc>
                <a:extLst>
                  <a:ext uri="{0D108BD9-81ED-4DB2-BD59-A6C34878D82A}">
                    <a16:rowId xmlns:a16="http://schemas.microsoft.com/office/drawing/2014/main" val="1276152618"/>
                  </a:ext>
                </a:extLst>
              </a:tr>
              <a:tr h="0">
                <a:tc>
                  <a:txBody>
                    <a:bodyPr/>
                    <a:lstStyle/>
                    <a:p>
                      <a:pPr>
                        <a:buNone/>
                      </a:pPr>
                      <a:r>
                        <a:rPr lang="en-IN" sz="1800" kern="1200">
                          <a:solidFill>
                            <a:schemeClr val="dk1"/>
                          </a:solidFill>
                        </a:rPr>
                        <a:t>9</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HV-AQS</a:t>
                      </a:r>
                      <a:endParaRPr lang="en-IN" sz="1800" kern="1200">
                        <a:solidFill>
                          <a:schemeClr val="dk1"/>
                        </a:solidFill>
                        <a:latin typeface="+mn-lt"/>
                        <a:ea typeface="+mn-ea"/>
                        <a:cs typeface="+mn-cs"/>
                      </a:endParaRPr>
                    </a:p>
                  </a:txBody>
                  <a:tcPr anchor="ctr"/>
                </a:tc>
                <a:tc>
                  <a:txBody>
                    <a:bodyPr/>
                    <a:lstStyle/>
                    <a:p>
                      <a:pPr>
                        <a:buNone/>
                      </a:pPr>
                      <a:r>
                        <a:rPr lang="en-IN" sz="1800" kern="1200">
                          <a:solidFill>
                            <a:schemeClr val="dk1"/>
                          </a:solidFill>
                        </a:rPr>
                        <a:t>56.58</a:t>
                      </a:r>
                      <a:endParaRPr lang="en-IN" sz="1800" kern="1200">
                        <a:solidFill>
                          <a:schemeClr val="dk1"/>
                        </a:solidFill>
                        <a:latin typeface="+mn-lt"/>
                        <a:ea typeface="+mn-ea"/>
                        <a:cs typeface="+mn-cs"/>
                      </a:endParaRPr>
                    </a:p>
                  </a:txBody>
                  <a:tcPr anchor="ctr"/>
                </a:tc>
                <a:extLst>
                  <a:ext uri="{0D108BD9-81ED-4DB2-BD59-A6C34878D82A}">
                    <a16:rowId xmlns:a16="http://schemas.microsoft.com/office/drawing/2014/main" val="168192775"/>
                  </a:ext>
                </a:extLst>
              </a:tr>
              <a:tr h="0">
                <a:tc>
                  <a:txBody>
                    <a:bodyPr/>
                    <a:lstStyle/>
                    <a:p>
                      <a:pPr>
                        <a:buNone/>
                      </a:pPr>
                      <a:r>
                        <a:rPr lang="en-IN" sz="1800" kern="1200" dirty="0">
                          <a:solidFill>
                            <a:schemeClr val="dk1"/>
                          </a:solidFill>
                        </a:rPr>
                        <a:t>10</a:t>
                      </a:r>
                      <a:endParaRPr lang="en-IN" sz="1800" kern="1200" dirty="0">
                        <a:solidFill>
                          <a:schemeClr val="dk1"/>
                        </a:solidFill>
                        <a:latin typeface="+mn-lt"/>
                        <a:ea typeface="+mn-ea"/>
                        <a:cs typeface="+mn-cs"/>
                      </a:endParaRPr>
                    </a:p>
                  </a:txBody>
                  <a:tcPr anchor="ctr"/>
                </a:tc>
                <a:tc>
                  <a:txBody>
                    <a:bodyPr/>
                    <a:lstStyle/>
                    <a:p>
                      <a:pPr>
                        <a:buNone/>
                      </a:pPr>
                      <a:r>
                        <a:rPr lang="en-IN" sz="1800" kern="1200">
                          <a:solidFill>
                            <a:schemeClr val="dk1"/>
                          </a:solidFill>
                        </a:rPr>
                        <a:t>HV-AQS Batch Print</a:t>
                      </a:r>
                      <a:endParaRPr lang="en-IN" sz="1800" kern="1200">
                        <a:solidFill>
                          <a:schemeClr val="dk1"/>
                        </a:solidFill>
                        <a:latin typeface="+mn-lt"/>
                        <a:ea typeface="+mn-ea"/>
                        <a:cs typeface="+mn-cs"/>
                      </a:endParaRPr>
                    </a:p>
                  </a:txBody>
                  <a:tcPr anchor="ctr"/>
                </a:tc>
                <a:tc>
                  <a:txBody>
                    <a:bodyPr/>
                    <a:lstStyle/>
                    <a:p>
                      <a:pPr>
                        <a:buNone/>
                      </a:pPr>
                      <a:r>
                        <a:rPr lang="en-IN" sz="1800" kern="1200" dirty="0">
                          <a:solidFill>
                            <a:schemeClr val="dk1"/>
                          </a:solidFill>
                        </a:rPr>
                        <a:t>57.89</a:t>
                      </a:r>
                      <a:endParaRPr lang="en-IN" sz="1800" kern="1200" dirty="0">
                        <a:solidFill>
                          <a:schemeClr val="dk1"/>
                        </a:solidFill>
                        <a:latin typeface="+mn-lt"/>
                        <a:ea typeface="+mn-ea"/>
                        <a:cs typeface="+mn-cs"/>
                      </a:endParaRPr>
                    </a:p>
                  </a:txBody>
                  <a:tcPr anchor="ctr"/>
                </a:tc>
                <a:extLst>
                  <a:ext uri="{0D108BD9-81ED-4DB2-BD59-A6C34878D82A}">
                    <a16:rowId xmlns:a16="http://schemas.microsoft.com/office/drawing/2014/main" val="1149607835"/>
                  </a:ext>
                </a:extLst>
              </a:tr>
            </a:tbl>
          </a:graphicData>
        </a:graphic>
      </p:graphicFrame>
      <p:sp>
        <p:nvSpPr>
          <p:cNvPr id="4" name="Rectangle 1">
            <a:extLst>
              <a:ext uri="{FF2B5EF4-FFF2-40B4-BE49-F238E27FC236}">
                <a16:creationId xmlns:a16="http://schemas.microsoft.com/office/drawing/2014/main" id="{BCF3762C-3781-4BA4-D135-F9A58A3E8C0D}"/>
              </a:ext>
            </a:extLst>
          </p:cNvPr>
          <p:cNvSpPr>
            <a:spLocks noChangeArrowheads="1"/>
          </p:cNvSpPr>
          <p:nvPr/>
        </p:nvSpPr>
        <p:spPr bwMode="auto">
          <a:xfrm>
            <a:off x="457200" y="20653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78760665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0790-7C91-9F61-1E11-8339D8AC1B5B}"/>
              </a:ext>
            </a:extLst>
          </p:cNvPr>
          <p:cNvSpPr>
            <a:spLocks noGrp="1"/>
          </p:cNvSpPr>
          <p:nvPr>
            <p:ph type="ctrTitle"/>
          </p:nvPr>
        </p:nvSpPr>
        <p:spPr>
          <a:xfrm>
            <a:off x="457199" y="457200"/>
            <a:ext cx="7845553" cy="6172200"/>
          </a:xfrm>
        </p:spPr>
        <p:txBody>
          <a:bodyPr anchor="b">
            <a:normAutofit/>
          </a:bodyPr>
          <a:lstStyle/>
          <a:p>
            <a:r>
              <a:rPr lang="en-US"/>
              <a:t>Readiness Categories with Visual Indicator</a:t>
            </a:r>
          </a:p>
        </p:txBody>
      </p:sp>
    </p:spTree>
    <p:extLst>
      <p:ext uri="{BB962C8B-B14F-4D97-AF65-F5344CB8AC3E}">
        <p14:creationId xmlns:p14="http://schemas.microsoft.com/office/powerpoint/2010/main" val="33552880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85C16-359C-FBA0-B5E0-878380DC7202}"/>
              </a:ext>
            </a:extLst>
          </p:cNvPr>
          <p:cNvSpPr>
            <a:spLocks noGrp="1"/>
          </p:cNvSpPr>
          <p:nvPr>
            <p:ph type="title"/>
          </p:nvPr>
        </p:nvSpPr>
        <p:spPr>
          <a:xfrm>
            <a:off x="6999060" y="457200"/>
            <a:ext cx="4735740" cy="1306009"/>
          </a:xfrm>
        </p:spPr>
        <p:txBody>
          <a:bodyPr anchor="b">
            <a:normAutofit/>
          </a:bodyPr>
          <a:lstStyle/>
          <a:p>
            <a:r>
              <a:rPr lang="en-US"/>
              <a:t>Categorization using readiness thresholds</a:t>
            </a:r>
          </a:p>
        </p:txBody>
      </p:sp>
      <p:pic>
        <p:nvPicPr>
          <p:cNvPr id="5" name="Content Placeholder 4" descr="Traffic lights isolated on white.">
            <a:extLst>
              <a:ext uri="{FF2B5EF4-FFF2-40B4-BE49-F238E27FC236}">
                <a16:creationId xmlns:a16="http://schemas.microsoft.com/office/drawing/2014/main" id="{EB065999-B04A-402F-991E-8FDE32F0D470}"/>
              </a:ext>
            </a:extLst>
          </p:cNvPr>
          <p:cNvPicPr>
            <a:picLocks noGrp="1" noChangeAspect="1"/>
          </p:cNvPicPr>
          <p:nvPr>
            <p:ph type="pic" sz="quarter" idx="13"/>
          </p:nvPr>
        </p:nvPicPr>
        <p:blipFill>
          <a:blip r:embed="rId3"/>
          <a:srcRect l="3058" r="3" b="3"/>
          <a:stretch>
            <a:fillRect/>
          </a:stretch>
        </p:blipFill>
        <p:spPr>
          <a:xfrm>
            <a:off x="1" y="457200"/>
            <a:ext cx="6492240" cy="5943600"/>
          </a:xfrm>
        </p:spPr>
      </p:pic>
      <p:sp>
        <p:nvSpPr>
          <p:cNvPr id="4" name="Content Placeholder 3">
            <a:extLst>
              <a:ext uri="{FF2B5EF4-FFF2-40B4-BE49-F238E27FC236}">
                <a16:creationId xmlns:a16="http://schemas.microsoft.com/office/drawing/2014/main" id="{9080F024-8128-B4BC-7E7A-45DE47F7D6B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99060" y="2209800"/>
            <a:ext cx="4735740" cy="4191000"/>
          </a:xfrm>
        </p:spPr>
        <p:txBody>
          <a:bodyPr>
            <a:normAutofit/>
          </a:bodyPr>
          <a:lstStyle/>
          <a:p>
            <a:pPr marL="0" indent="0">
              <a:spcBef>
                <a:spcPts val="2500"/>
              </a:spcBef>
              <a:spcAft>
                <a:spcPts val="600"/>
              </a:spcAft>
              <a:buFont typeface="Arial" panose="020B0604020202020204" pitchFamily="34" charset="0"/>
              <a:buNone/>
            </a:pPr>
            <a:r>
              <a:rPr lang="en-US" b="1"/>
              <a:t>Green Readiness Category</a:t>
            </a:r>
          </a:p>
          <a:p>
            <a:pPr marL="0" lvl="1" indent="0">
              <a:spcAft>
                <a:spcPts val="600"/>
              </a:spcAft>
              <a:buFont typeface="Arial" panose="020B0604020202020204" pitchFamily="34" charset="0"/>
              <a:buNone/>
            </a:pPr>
            <a:r>
              <a:t>Fifty-one applications are in green with over ninety percent readiness, indicating strong documentation and minor gaps.</a:t>
            </a:r>
            <a:endParaRPr lang="en-US"/>
          </a:p>
          <a:p>
            <a:pPr marL="0" indent="0">
              <a:spcBef>
                <a:spcPts val="2500"/>
              </a:spcBef>
              <a:spcAft>
                <a:spcPts val="600"/>
              </a:spcAft>
              <a:buFont typeface="Arial" panose="020B0604020202020204" pitchFamily="34" charset="0"/>
              <a:buNone/>
            </a:pPr>
            <a:r>
              <a:rPr lang="en-US" b="1"/>
              <a:t>Amber Readiness Category</a:t>
            </a:r>
          </a:p>
          <a:p>
            <a:pPr marL="0" lvl="1" indent="0">
              <a:spcAft>
                <a:spcPts val="600"/>
              </a:spcAft>
              <a:buFont typeface="Arial" panose="020B0604020202020204" pitchFamily="34" charset="0"/>
              <a:buNone/>
            </a:pPr>
            <a:r>
              <a:t>Eighteen applications fall in amber, showing moderate readiness with foundational documentation but needing more information.</a:t>
            </a:r>
            <a:endParaRPr lang="en-US"/>
          </a:p>
          <a:p>
            <a:pPr marL="0" indent="0">
              <a:spcBef>
                <a:spcPts val="2500"/>
              </a:spcBef>
              <a:spcAft>
                <a:spcPts val="600"/>
              </a:spcAft>
              <a:buFont typeface="Arial" panose="020B0604020202020204" pitchFamily="34" charset="0"/>
              <a:buNone/>
            </a:pPr>
            <a:r>
              <a:rPr lang="en-US" b="1"/>
              <a:t>Red Readiness Category</a:t>
            </a:r>
          </a:p>
          <a:p>
            <a:pPr marL="0" lvl="1" indent="0">
              <a:spcAft>
                <a:spcPts val="600"/>
              </a:spcAft>
              <a:buFont typeface="Arial" panose="020B0604020202020204" pitchFamily="34" charset="0"/>
              <a:buNone/>
            </a:pPr>
            <a:r>
              <a:t>Thirteen applications are in red, exhibiting critical gaps requiring immediate focus and deep-dive workshops.</a:t>
            </a:r>
            <a:endParaRPr lang="en-US"/>
          </a:p>
        </p:txBody>
      </p:sp>
    </p:spTree>
    <p:extLst>
      <p:ext uri="{BB962C8B-B14F-4D97-AF65-F5344CB8AC3E}">
        <p14:creationId xmlns:p14="http://schemas.microsoft.com/office/powerpoint/2010/main" val="23601028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8036A-E5AD-5D6C-184E-6512A62DDCFE}"/>
              </a:ext>
            </a:extLst>
          </p:cNvPr>
          <p:cNvSpPr>
            <a:spLocks noGrp="1"/>
          </p:cNvSpPr>
          <p:nvPr>
            <p:ph type="title"/>
          </p:nvPr>
        </p:nvSpPr>
        <p:spPr>
          <a:xfrm>
            <a:off x="457200" y="490128"/>
            <a:ext cx="11277599" cy="914400"/>
          </a:xfrm>
        </p:spPr>
        <p:txBody>
          <a:bodyPr anchor="t">
            <a:normAutofit/>
          </a:bodyPr>
          <a:lstStyle/>
          <a:p>
            <a:r>
              <a:rPr lang="en-US"/>
              <a:t>Readiness category summary table</a:t>
            </a:r>
          </a:p>
        </p:txBody>
      </p:sp>
      <p:graphicFrame>
        <p:nvGraphicFramePr>
          <p:cNvPr id="5" name="Content Placeholder 4">
            <a:extLst>
              <a:ext uri="{FF2B5EF4-FFF2-40B4-BE49-F238E27FC236}">
                <a16:creationId xmlns:a16="http://schemas.microsoft.com/office/drawing/2014/main" id="{6A52A1CD-BE29-4B71-B7D5-F68C59C25153}"/>
              </a:ext>
            </a:extLst>
          </p:cNvPr>
          <p:cNvGraphicFramePr>
            <a:graphicFrameLocks noGrp="1"/>
          </p:cNvGraphicFramePr>
          <p:nvPr>
            <p:ph idx="1"/>
            <p:extLst>
              <p:ext uri="{D42A27DB-BD31-4B8C-83A1-F6EECF244321}">
                <p14:modId xmlns:p14="http://schemas.microsoft.com/office/powerpoint/2010/main" val="3281259469"/>
              </p:ext>
            </p:extLst>
          </p:nvPr>
        </p:nvGraphicFramePr>
        <p:xfrm>
          <a:off x="457201" y="2290465"/>
          <a:ext cx="10657114" cy="3201110"/>
        </p:xfrm>
        <a:graphic>
          <a:graphicData uri="http://schemas.openxmlformats.org/drawingml/2006/table">
            <a:tbl>
              <a:tblPr firstRow="1" bandRow="1">
                <a:noFill/>
                <a:tableStyleId>{5C22544A-7EE6-4342-B048-85BDC9FD1C3A}</a:tableStyleId>
              </a:tblPr>
              <a:tblGrid>
                <a:gridCol w="2875856">
                  <a:extLst>
                    <a:ext uri="{9D8B030D-6E8A-4147-A177-3AD203B41FA5}">
                      <a16:colId xmlns:a16="http://schemas.microsoft.com/office/drawing/2014/main" val="3473772790"/>
                    </a:ext>
                  </a:extLst>
                </a:gridCol>
                <a:gridCol w="2942181">
                  <a:extLst>
                    <a:ext uri="{9D8B030D-6E8A-4147-A177-3AD203B41FA5}">
                      <a16:colId xmlns:a16="http://schemas.microsoft.com/office/drawing/2014/main" val="2669398204"/>
                    </a:ext>
                  </a:extLst>
                </a:gridCol>
                <a:gridCol w="4839077">
                  <a:extLst>
                    <a:ext uri="{9D8B030D-6E8A-4147-A177-3AD203B41FA5}">
                      <a16:colId xmlns:a16="http://schemas.microsoft.com/office/drawing/2014/main" val="3859145171"/>
                    </a:ext>
                  </a:extLst>
                </a:gridCol>
              </a:tblGrid>
              <a:tr h="831320">
                <a:tc>
                  <a:txBody>
                    <a:bodyPr/>
                    <a:lstStyle/>
                    <a:p>
                      <a:pPr>
                        <a:buNone/>
                      </a:pPr>
                      <a:r>
                        <a:rPr lang="en-US" sz="2000" b="1" cap="all" spc="150">
                          <a:solidFill>
                            <a:schemeClr val="tx1"/>
                          </a:solidFill>
                        </a:rPr>
                        <a:t>Category</a:t>
                      </a:r>
                    </a:p>
                  </a:txBody>
                  <a:tcPr marL="242565" marR="242565" marT="242565" marB="242565"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000" b="1" cap="all" spc="150">
                          <a:solidFill>
                            <a:schemeClr val="tx1"/>
                          </a:solidFill>
                        </a:rPr>
                        <a:t>Definition</a:t>
                      </a:r>
                    </a:p>
                  </a:txBody>
                  <a:tcPr marL="242565" marR="242565" marT="242565" marB="242565"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000" b="1" cap="all" spc="150">
                          <a:solidFill>
                            <a:schemeClr val="tx1"/>
                          </a:solidFill>
                        </a:rPr>
                        <a:t>Application Count</a:t>
                      </a:r>
                    </a:p>
                  </a:txBody>
                  <a:tcPr marL="242565" marR="242565" marT="242565" marB="242565"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3696420470"/>
                  </a:ext>
                </a:extLst>
              </a:tr>
              <a:tr h="762805">
                <a:tc>
                  <a:txBody>
                    <a:bodyPr/>
                    <a:lstStyle/>
                    <a:p>
                      <a:pPr>
                        <a:buNone/>
                      </a:pPr>
                      <a:r>
                        <a:rPr lang="en-US" sz="2000" b="1" cap="none" spc="0" dirty="0">
                          <a:solidFill>
                            <a:schemeClr val="tx1"/>
                          </a:solidFill>
                        </a:rPr>
                        <a:t>Green</a:t>
                      </a:r>
                    </a:p>
                  </a:txBody>
                  <a:tcPr marL="242565" marR="242565" marT="242565" marB="242565"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2000" cap="none" spc="0" dirty="0">
                          <a:solidFill>
                            <a:schemeClr val="tx1"/>
                          </a:solidFill>
                        </a:rPr>
                        <a:t>≥ 90% Ready</a:t>
                      </a:r>
                    </a:p>
                  </a:txBody>
                  <a:tcPr marL="242565" marR="242565" marT="242565" marB="242565"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2000" cap="none" spc="0" dirty="0">
                          <a:solidFill>
                            <a:schemeClr val="tx1"/>
                          </a:solidFill>
                        </a:rPr>
                        <a:t>51 </a:t>
                      </a:r>
                      <a:r>
                        <a:rPr lang="en-IN" sz="1800" kern="1200" dirty="0">
                          <a:solidFill>
                            <a:schemeClr val="dk1"/>
                          </a:solidFill>
                          <a:effectLst/>
                          <a:latin typeface="+mn-lt"/>
                          <a:ea typeface="+mn-ea"/>
                          <a:cs typeface="+mn-cs"/>
                        </a:rPr>
                        <a:t>🟢</a:t>
                      </a:r>
                      <a:endParaRPr lang="en-US" sz="2000" cap="none" spc="0" dirty="0">
                        <a:solidFill>
                          <a:schemeClr val="tx1"/>
                        </a:solidFill>
                      </a:endParaRPr>
                    </a:p>
                  </a:txBody>
                  <a:tcPr marL="242565" marR="242565" marT="242565" marB="242565"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667805750"/>
                  </a:ext>
                </a:extLst>
              </a:tr>
              <a:tr h="762805">
                <a:tc>
                  <a:txBody>
                    <a:bodyPr/>
                    <a:lstStyle/>
                    <a:p>
                      <a:pPr>
                        <a:buNone/>
                      </a:pPr>
                      <a:r>
                        <a:rPr lang="en-US" sz="2000" b="1" cap="none" spc="0" dirty="0">
                          <a:solidFill>
                            <a:schemeClr val="tx1"/>
                          </a:solidFill>
                        </a:rPr>
                        <a:t>Amber</a:t>
                      </a:r>
                    </a:p>
                  </a:txBody>
                  <a:tcPr marL="242565" marR="242565" marT="242565" marB="2425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70–90% Ready</a:t>
                      </a:r>
                    </a:p>
                  </a:txBody>
                  <a:tcPr marL="242565" marR="242565" marT="242565" marB="2425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dirty="0">
                          <a:solidFill>
                            <a:schemeClr val="tx1"/>
                          </a:solidFill>
                        </a:rPr>
                        <a:t>18 </a:t>
                      </a:r>
                      <a:r>
                        <a:rPr lang="en-IN" sz="1800" kern="1200" dirty="0">
                          <a:solidFill>
                            <a:schemeClr val="dk1"/>
                          </a:solidFill>
                          <a:effectLst/>
                          <a:latin typeface="+mn-lt"/>
                          <a:ea typeface="+mn-ea"/>
                          <a:cs typeface="+mn-cs"/>
                        </a:rPr>
                        <a:t>🟡</a:t>
                      </a:r>
                      <a:endParaRPr lang="en-US" sz="2000" cap="none" spc="0" dirty="0">
                        <a:solidFill>
                          <a:schemeClr val="tx1"/>
                        </a:solidFill>
                      </a:endParaRPr>
                    </a:p>
                  </a:txBody>
                  <a:tcPr marL="242565" marR="242565" marT="242565" marB="2425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046730143"/>
                  </a:ext>
                </a:extLst>
              </a:tr>
              <a:tr h="762805">
                <a:tc>
                  <a:txBody>
                    <a:bodyPr/>
                    <a:lstStyle/>
                    <a:p>
                      <a:pPr>
                        <a:buNone/>
                      </a:pPr>
                      <a:r>
                        <a:rPr lang="en-US" sz="2000" b="1" cap="none" spc="0">
                          <a:solidFill>
                            <a:schemeClr val="tx1"/>
                          </a:solidFill>
                        </a:rPr>
                        <a:t>Red</a:t>
                      </a:r>
                    </a:p>
                  </a:txBody>
                  <a:tcPr marL="242565" marR="242565" marT="242565" marB="242565"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2000" cap="none" spc="0">
                          <a:solidFill>
                            <a:schemeClr val="tx1"/>
                          </a:solidFill>
                        </a:rPr>
                        <a:t>&lt; 70% Ready</a:t>
                      </a:r>
                    </a:p>
                  </a:txBody>
                  <a:tcPr marL="242565" marR="242565" marT="242565" marB="242565"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2000" cap="none" spc="0" dirty="0">
                          <a:solidFill>
                            <a:schemeClr val="tx1"/>
                          </a:solidFill>
                        </a:rPr>
                        <a:t>13 </a:t>
                      </a:r>
                      <a:r>
                        <a:rPr lang="en-IN" sz="1800" kern="1200" dirty="0">
                          <a:solidFill>
                            <a:schemeClr val="dk1"/>
                          </a:solidFill>
                          <a:effectLst/>
                          <a:latin typeface="+mn-lt"/>
                          <a:ea typeface="+mn-ea"/>
                          <a:cs typeface="+mn-cs"/>
                        </a:rPr>
                        <a:t>🔴</a:t>
                      </a:r>
                      <a:endParaRPr lang="en-US" sz="2000" cap="none" spc="0" dirty="0">
                        <a:solidFill>
                          <a:schemeClr val="tx1"/>
                        </a:solidFill>
                      </a:endParaRPr>
                    </a:p>
                  </a:txBody>
                  <a:tcPr marL="242565" marR="242565" marT="242565" marB="242565"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3881905917"/>
                  </a:ext>
                </a:extLst>
              </a:tr>
            </a:tbl>
          </a:graphicData>
        </a:graphic>
      </p:graphicFrame>
    </p:spTree>
    <p:extLst>
      <p:ext uri="{BB962C8B-B14F-4D97-AF65-F5344CB8AC3E}">
        <p14:creationId xmlns:p14="http://schemas.microsoft.com/office/powerpoint/2010/main" val="130062695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97F15-D2F6-03B0-8879-09175B65C090}"/>
              </a:ext>
            </a:extLst>
          </p:cNvPr>
          <p:cNvSpPr>
            <a:spLocks noGrp="1"/>
          </p:cNvSpPr>
          <p:nvPr>
            <p:ph type="ctrTitle"/>
          </p:nvPr>
        </p:nvSpPr>
        <p:spPr>
          <a:xfrm>
            <a:off x="457199" y="457200"/>
            <a:ext cx="9982201" cy="6172200"/>
          </a:xfrm>
        </p:spPr>
        <p:txBody>
          <a:bodyPr anchor="b">
            <a:normAutofit/>
          </a:bodyPr>
          <a:lstStyle/>
          <a:p>
            <a:r>
              <a:rPr lang="en-US"/>
              <a:t>Input Completeness Heatmap Summary</a:t>
            </a:r>
          </a:p>
        </p:txBody>
      </p:sp>
    </p:spTree>
    <p:extLst>
      <p:ext uri="{BB962C8B-B14F-4D97-AF65-F5344CB8AC3E}">
        <p14:creationId xmlns:p14="http://schemas.microsoft.com/office/powerpoint/2010/main" val="65565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A02F-3C95-9534-3289-999B9A487FC9}"/>
              </a:ext>
            </a:extLst>
          </p:cNvPr>
          <p:cNvSpPr>
            <a:spLocks noGrp="1"/>
          </p:cNvSpPr>
          <p:nvPr>
            <p:ph type="title"/>
          </p:nvPr>
        </p:nvSpPr>
        <p:spPr>
          <a:xfrm>
            <a:off x="457200" y="457201"/>
            <a:ext cx="5029200" cy="1519083"/>
          </a:xfrm>
        </p:spPr>
        <p:txBody>
          <a:bodyPr anchor="t">
            <a:normAutofit/>
          </a:bodyPr>
          <a:lstStyle/>
          <a:p>
            <a:r>
              <a:rPr lang="en-US"/>
              <a:t>Evaluation of Must‑Have and Good‑to‑Have completeness</a:t>
            </a:r>
          </a:p>
        </p:txBody>
      </p:sp>
      <p:pic>
        <p:nvPicPr>
          <p:cNvPr id="5" name="Content Placeholder 4" descr="Digital technology abstract background">
            <a:extLst>
              <a:ext uri="{FF2B5EF4-FFF2-40B4-BE49-F238E27FC236}">
                <a16:creationId xmlns:a16="http://schemas.microsoft.com/office/drawing/2014/main" id="{172A1D29-4448-4C48-A33A-0BA770DC4BC8}"/>
              </a:ext>
            </a:extLst>
          </p:cNvPr>
          <p:cNvPicPr>
            <a:picLocks noGrp="1" noChangeAspect="1"/>
          </p:cNvPicPr>
          <p:nvPr>
            <p:ph type="pic" sz="quarter" idx="13"/>
          </p:nvPr>
        </p:nvPicPr>
        <p:blipFill>
          <a:blip r:embed="rId3"/>
          <a:srcRect l="13631" r="16407" b="-1"/>
          <a:stretch>
            <a:fillRect/>
          </a:stretch>
        </p:blipFill>
        <p:spPr>
          <a:xfrm>
            <a:off x="457200" y="2357283"/>
            <a:ext cx="5029199" cy="40435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Content Placeholder 3">
            <a:extLst>
              <a:ext uri="{FF2B5EF4-FFF2-40B4-BE49-F238E27FC236}">
                <a16:creationId xmlns:a16="http://schemas.microsoft.com/office/drawing/2014/main" id="{A4588E42-E9D5-D0AD-F539-7942E61026E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Fully Complete Applications</a:t>
            </a:r>
          </a:p>
          <a:p>
            <a:pPr marL="0" lvl="1" indent="0">
              <a:spcAft>
                <a:spcPts val="600"/>
              </a:spcAft>
              <a:buFont typeface="Arial" panose="020B0604020202020204" pitchFamily="34" charset="0"/>
              <a:buNone/>
            </a:pPr>
            <a:r>
              <a:t>Three applications have full Must-Have and Good-to-Have completion, enabling smooth decommissioning without extra input.</a:t>
            </a:r>
            <a:endParaRPr lang="en-US"/>
          </a:p>
          <a:p>
            <a:pPr marL="0" indent="0">
              <a:spcBef>
                <a:spcPts val="2500"/>
              </a:spcBef>
              <a:spcAft>
                <a:spcPts val="600"/>
              </a:spcAft>
              <a:buFont typeface="Arial" panose="020B0604020202020204" pitchFamily="34" charset="0"/>
              <a:buNone/>
            </a:pPr>
            <a:r>
              <a:rPr lang="en-US" b="1"/>
              <a:t>Must-Have Complete Only</a:t>
            </a:r>
          </a:p>
          <a:p>
            <a:pPr marL="0" lvl="1" indent="0">
              <a:spcAft>
                <a:spcPts val="600"/>
              </a:spcAft>
              <a:buFont typeface="Arial" panose="020B0604020202020204" pitchFamily="34" charset="0"/>
              <a:buNone/>
            </a:pPr>
            <a:r>
              <a:t>Fourteen applications completed Must-Have inputs with some Good-to-Have gaps, remaining close to full readiness.</a:t>
            </a:r>
            <a:endParaRPr lang="en-US"/>
          </a:p>
          <a:p>
            <a:pPr marL="0" indent="0">
              <a:spcBef>
                <a:spcPts val="2500"/>
              </a:spcBef>
              <a:spcAft>
                <a:spcPts val="600"/>
              </a:spcAft>
              <a:buFont typeface="Arial" panose="020B0604020202020204" pitchFamily="34" charset="0"/>
              <a:buNone/>
            </a:pPr>
            <a:r>
              <a:rPr lang="en-US" b="1"/>
              <a:t>Good-to-Have Complete Only</a:t>
            </a:r>
          </a:p>
          <a:p>
            <a:pPr marL="0" lvl="1" indent="0">
              <a:spcAft>
                <a:spcPts val="600"/>
              </a:spcAft>
              <a:buFont typeface="Arial" panose="020B0604020202020204" pitchFamily="34" charset="0"/>
              <a:buNone/>
            </a:pPr>
            <a:r>
              <a:t>Nine applications completed Good-to-Have fields but lack some Must-Have items, posing compliance and risk issues.</a:t>
            </a:r>
            <a:endParaRPr lang="en-US"/>
          </a:p>
          <a:p>
            <a:pPr marL="0" indent="0">
              <a:spcBef>
                <a:spcPts val="2500"/>
              </a:spcBef>
              <a:spcAft>
                <a:spcPts val="600"/>
              </a:spcAft>
              <a:buFont typeface="Arial" panose="020B0604020202020204" pitchFamily="34" charset="0"/>
              <a:buNone/>
            </a:pPr>
            <a:r>
              <a:rPr lang="en-US" b="1"/>
              <a:t>Least Complete Applications</a:t>
            </a:r>
          </a:p>
          <a:p>
            <a:pPr marL="0" lvl="1" indent="0">
              <a:spcAft>
                <a:spcPts val="600"/>
              </a:spcAft>
              <a:buFont typeface="Arial" panose="020B0604020202020204" pitchFamily="34" charset="0"/>
              <a:buNone/>
            </a:pPr>
            <a:r>
              <a:t>Forty-eight applications lack significant Must-Have and Good-to-Have data, requiring targeted efforts to improve readiness.</a:t>
            </a:r>
            <a:endParaRPr lang="en-US"/>
          </a:p>
        </p:txBody>
      </p:sp>
    </p:spTree>
    <p:extLst>
      <p:ext uri="{BB962C8B-B14F-4D97-AF65-F5344CB8AC3E}">
        <p14:creationId xmlns:p14="http://schemas.microsoft.com/office/powerpoint/2010/main" val="13179525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6F8F9-CDA0-EA58-1743-0C699A45ABCF}"/>
              </a:ext>
            </a:extLst>
          </p:cNvPr>
          <p:cNvSpPr>
            <a:spLocks noGrp="1"/>
          </p:cNvSpPr>
          <p:nvPr>
            <p:ph type="title"/>
          </p:nvPr>
        </p:nvSpPr>
        <p:spPr>
          <a:xfrm>
            <a:off x="457200" y="490128"/>
            <a:ext cx="11277599" cy="914400"/>
          </a:xfrm>
        </p:spPr>
        <p:txBody>
          <a:bodyPr anchor="t">
            <a:normAutofit/>
          </a:bodyPr>
          <a:lstStyle/>
          <a:p>
            <a:r>
              <a:rPr lang="en-US"/>
              <a:t>Heatmap completeness table</a:t>
            </a:r>
          </a:p>
        </p:txBody>
      </p:sp>
      <p:graphicFrame>
        <p:nvGraphicFramePr>
          <p:cNvPr id="5" name="Content Placeholder 4">
            <a:extLst>
              <a:ext uri="{FF2B5EF4-FFF2-40B4-BE49-F238E27FC236}">
                <a16:creationId xmlns:a16="http://schemas.microsoft.com/office/drawing/2014/main" id="{FF43F5F8-9B7F-4898-A30C-F4B8B1F4F321}"/>
              </a:ext>
            </a:extLst>
          </p:cNvPr>
          <p:cNvGraphicFramePr>
            <a:graphicFrameLocks noGrp="1"/>
          </p:cNvGraphicFramePr>
          <p:nvPr>
            <p:ph idx="1"/>
            <p:extLst>
              <p:ext uri="{D42A27DB-BD31-4B8C-83A1-F6EECF244321}">
                <p14:modId xmlns:p14="http://schemas.microsoft.com/office/powerpoint/2010/main" val="642977974"/>
              </p:ext>
            </p:extLst>
          </p:nvPr>
        </p:nvGraphicFramePr>
        <p:xfrm>
          <a:off x="457200" y="2118744"/>
          <a:ext cx="11277599" cy="4025045"/>
        </p:xfrm>
        <a:graphic>
          <a:graphicData uri="http://schemas.openxmlformats.org/drawingml/2006/table">
            <a:tbl>
              <a:tblPr firstRow="1" bandRow="1">
                <a:noFill/>
                <a:tableStyleId>{5C22544A-7EE6-4342-B048-85BDC9FD1C3A}</a:tableStyleId>
              </a:tblPr>
              <a:tblGrid>
                <a:gridCol w="3969589">
                  <a:extLst>
                    <a:ext uri="{9D8B030D-6E8A-4147-A177-3AD203B41FA5}">
                      <a16:colId xmlns:a16="http://schemas.microsoft.com/office/drawing/2014/main" val="1048979589"/>
                    </a:ext>
                  </a:extLst>
                </a:gridCol>
                <a:gridCol w="3196409">
                  <a:extLst>
                    <a:ext uri="{9D8B030D-6E8A-4147-A177-3AD203B41FA5}">
                      <a16:colId xmlns:a16="http://schemas.microsoft.com/office/drawing/2014/main" val="1144394627"/>
                    </a:ext>
                  </a:extLst>
                </a:gridCol>
                <a:gridCol w="4111601">
                  <a:extLst>
                    <a:ext uri="{9D8B030D-6E8A-4147-A177-3AD203B41FA5}">
                      <a16:colId xmlns:a16="http://schemas.microsoft.com/office/drawing/2014/main" val="4267986210"/>
                    </a:ext>
                  </a:extLst>
                </a:gridCol>
              </a:tblGrid>
              <a:tr h="1133937">
                <a:tc>
                  <a:txBody>
                    <a:bodyPr/>
                    <a:lstStyle/>
                    <a:p>
                      <a:pPr>
                        <a:buNone/>
                      </a:pPr>
                      <a:r>
                        <a:rPr lang="en-US" sz="2300" b="1" cap="all" spc="150">
                          <a:solidFill>
                            <a:schemeClr val="tx1"/>
                          </a:solidFill>
                        </a:rPr>
                        <a:t>Must-Have Status</a:t>
                      </a:r>
                    </a:p>
                  </a:txBody>
                  <a:tcPr marL="194760" marR="194760" marT="194760" marB="194760"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300" b="1" cap="all" spc="150">
                          <a:solidFill>
                            <a:schemeClr val="tx1"/>
                          </a:solidFill>
                        </a:rPr>
                        <a:t>Good-to-Have Status</a:t>
                      </a:r>
                    </a:p>
                  </a:txBody>
                  <a:tcPr marL="194760" marR="194760" marT="194760" marB="194760"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300" b="1" cap="all" spc="150">
                          <a:solidFill>
                            <a:schemeClr val="tx1"/>
                          </a:solidFill>
                        </a:rPr>
                        <a:t>Application Count</a:t>
                      </a:r>
                    </a:p>
                  </a:txBody>
                  <a:tcPr marL="194760" marR="194760" marT="194760" marB="194760"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696400261"/>
                  </a:ext>
                </a:extLst>
              </a:tr>
              <a:tr h="722777">
                <a:tc>
                  <a:txBody>
                    <a:bodyPr/>
                    <a:lstStyle/>
                    <a:p>
                      <a:pPr>
                        <a:buNone/>
                      </a:pPr>
                      <a:r>
                        <a:rPr lang="en-US" sz="1800" b="1" cap="none" spc="0" dirty="0">
                          <a:solidFill>
                            <a:schemeClr val="tx1"/>
                          </a:solidFill>
                        </a:rPr>
                        <a:t>Complete</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Complete</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3</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560993519"/>
                  </a:ext>
                </a:extLst>
              </a:tr>
              <a:tr h="722777">
                <a:tc>
                  <a:txBody>
                    <a:bodyPr/>
                    <a:lstStyle/>
                    <a:p>
                      <a:pPr>
                        <a:buNone/>
                      </a:pPr>
                      <a:r>
                        <a:rPr lang="en-US" sz="1800" b="1" cap="none" spc="0" dirty="0">
                          <a:solidFill>
                            <a:schemeClr val="tx1"/>
                          </a:solidFill>
                        </a:rPr>
                        <a:t>Complete</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dirty="0">
                          <a:solidFill>
                            <a:schemeClr val="tx2"/>
                          </a:solidFill>
                        </a:rPr>
                        <a:t>Not Complete</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14</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188977464"/>
                  </a:ext>
                </a:extLst>
              </a:tr>
              <a:tr h="722777">
                <a:tc>
                  <a:txBody>
                    <a:bodyPr/>
                    <a:lstStyle/>
                    <a:p>
                      <a:pPr>
                        <a:buNone/>
                      </a:pPr>
                      <a:r>
                        <a:rPr lang="en-US" sz="1800" b="1" cap="none" spc="0" dirty="0">
                          <a:solidFill>
                            <a:srgbClr val="FF0000"/>
                          </a:solidFill>
                        </a:rPr>
                        <a:t>Not Complete</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Complete</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dirty="0">
                          <a:solidFill>
                            <a:srgbClr val="FF0000"/>
                          </a:solidFill>
                        </a:rPr>
                        <a:t>9</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537794947"/>
                  </a:ext>
                </a:extLst>
              </a:tr>
              <a:tr h="722777">
                <a:tc>
                  <a:txBody>
                    <a:bodyPr/>
                    <a:lstStyle/>
                    <a:p>
                      <a:pPr>
                        <a:buNone/>
                      </a:pPr>
                      <a:r>
                        <a:rPr lang="en-US" sz="1800" b="1" cap="none" spc="0" dirty="0">
                          <a:solidFill>
                            <a:srgbClr val="FF0000"/>
                          </a:solidFill>
                        </a:rPr>
                        <a:t>Not Complete</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800" cap="none" spc="0" dirty="0">
                          <a:solidFill>
                            <a:schemeClr val="tx2"/>
                          </a:solidFill>
                        </a:rPr>
                        <a:t>Not Complete</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800" cap="none" spc="0" dirty="0">
                          <a:solidFill>
                            <a:srgbClr val="FF0000"/>
                          </a:solidFill>
                        </a:rPr>
                        <a:t>48</a:t>
                      </a:r>
                    </a:p>
                  </a:txBody>
                  <a:tcPr marL="194760" marR="194760" marT="194760" marB="19476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824252095"/>
                  </a:ext>
                </a:extLst>
              </a:tr>
            </a:tbl>
          </a:graphicData>
        </a:graphic>
      </p:graphicFrame>
    </p:spTree>
    <p:extLst>
      <p:ext uri="{BB962C8B-B14F-4D97-AF65-F5344CB8AC3E}">
        <p14:creationId xmlns:p14="http://schemas.microsoft.com/office/powerpoint/2010/main" val="2538332083"/>
      </p:ext>
    </p:extLst>
  </p:cSld>
  <p:clrMapOvr>
    <a:masterClrMapping/>
  </p:clrMapOvr>
  <p:transition>
    <p:fade/>
  </p:transition>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in32_SD_V5" id="{E43A2CAE-029B-46E8-8085-D6AC37FEAB72}" vid="{9BD0D0BD-C5D3-42A7-8670-EE25EA222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bdd1d1f-a7a2-4e37-afb2-79c5553cf28c}" enabled="1" method="Privileged" siteId="{d483ed84-f7bf-4078-a58f-fb250feccf8f}" contentBits="0" removed="0"/>
</clbl:labelList>
</file>

<file path=docProps/app.xml><?xml version="1.0" encoding="utf-8"?>
<Properties xmlns="http://schemas.openxmlformats.org/officeDocument/2006/extended-properties" xmlns:vt="http://schemas.openxmlformats.org/officeDocument/2006/docPropsVTypes">
  <Template/>
  <TotalTime>0</TotalTime>
  <Words>1623</Words>
  <Application>Microsoft Office PowerPoint</Application>
  <PresentationFormat>Widescreen</PresentationFormat>
  <Paragraphs>162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Light</vt:lpstr>
      <vt:lpstr>Arial</vt:lpstr>
      <vt:lpstr>Chamberi Super Display</vt:lpstr>
      <vt:lpstr>Prismatic polygons</vt:lpstr>
      <vt:lpstr>Application Decommissioning Summary Report</vt:lpstr>
      <vt:lpstr>Overall Application Readiness Summary</vt:lpstr>
      <vt:lpstr>High-level readiness analysis across applications</vt:lpstr>
      <vt:lpstr>Readiness distribution interpretation</vt:lpstr>
      <vt:lpstr>Top &amp; Bottom Readiness Highlights</vt:lpstr>
      <vt:lpstr>Top 10 Ready Applications</vt:lpstr>
      <vt:lpstr>Bottom 10 - Need Inputs</vt:lpstr>
      <vt:lpstr>Readiness Categories with Visual Indicator</vt:lpstr>
      <vt:lpstr>Categorization using readiness thresholds</vt:lpstr>
      <vt:lpstr>Readiness category summary table</vt:lpstr>
      <vt:lpstr>Input Completeness Heatmap Summary</vt:lpstr>
      <vt:lpstr>Evaluation of Must‑Have and Good‑to‑Have completeness</vt:lpstr>
      <vt:lpstr>Heatmap completeness 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2</cp:revision>
  <dcterms:created xsi:type="dcterms:W3CDTF">2025-12-23T13:06:52Z</dcterms:created>
  <dcterms:modified xsi:type="dcterms:W3CDTF">2026-02-17T16:11:21Z</dcterms:modified>
</cp:coreProperties>
</file>